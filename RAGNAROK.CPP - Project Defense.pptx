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 don't say "hi, my presentation is about." Just say: "This is RAGnarok. It's a retrieval-augmented generation engine — a RAG engine — written entirely in C++."
What the visual means: I'm showing the actual build sequence — clone, cmake, build, run — because that's literally how you'd get this running on your machine. No slideware, just the real terminal commands.
Technical explanation: RAG means the system retrieves relevant documents before generating an answer, instead of the model just hallucinating from memory. What makes this project different is the layer it's built at — most people build RAG on top of Python frameworks like LangChain. I built the pipeline directly in C++17, using raw HTTP calls, JSON parsing, and MongoDB's C++ driver, with no RAG framework in between.
Why this matters: that's the entire point of the project — not "look, I used C++," but "here's what you actually have to build yourself once you strip the framework away."
Transition: so let's start with the actual question this project is trying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"Before I show you the system, I want to be really clear about what question this project is NOT answering."
What the visual means: I'm crossing out the obvious, lazy framing — "is C++ faster than Python" — because that's not a real research question, that's a flame war. I deliberately did not build this to win a benchmark argument.
Technical explanation: The actual question is about abstraction. When you use a framework like LangChain, it handles connection pooling, retries, prompt templating, vector store adapters — dozens of decisions — for you. I wanted to know what's actually underneath that layer. So I broke it into four sub-questions: can C++17 even do this end-to-end (feasibility), what architecture is hiding under the framework (architecture), where does time actually go in a RAG request (performance), and what does it cost you in development effort to work at this level (ergonomics).
Why this matters: This reframes the whole project from "which language wins" to "what is RAG actually made of." That's a much more useful engineering question, and it's the one I can actually answer honestly with a 10–20 document CLI project.
Transition: so let's look at what I actually built to answer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the actual architecture — these are the real class names from my codebase, not a generic diagram."
What the visual means: A user query enters through TutorEngine, which is the central orchestrator class. It fans out to two clients — GeminiClient, which talks to the Gemini API for embeddings and generation, and MongoDBClient, which talks to MongoDB Atlas for vector search. Those converge back into context assembly and generation.
Technical explanation: TutorEngine owns both client objects and coordinates the sequence — embed the query, search the database, assemble the retrieved chunks into a prompt, then call Gemini again for the final answer. Nothing here is hidden in a framework; every arrow on this diagram is a function call I wrote and can point to in the source.
Why this matters: this is RQ2 — architecture. This is literally what a framework like LangChain would be doing internally, except here it's explicit, typed, and something I own end-to-end. When something breaks, I know exactly which class it's in.
Transition: let's trace one actual request through this system,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one question, followed step by step through the actual pipeline."
What the visual means: this is the literal call sequence for a single query — embedQuery, then the Gemini embedding call, then MongoDB's vectorSearch aggregation stage, then pulling the top-K chunks, assembling context, building the prompt, and generating the final response.
Technical explanation: the small cyan labels on the side are the C++-specific concerns that show up at each stage — things a framework normally hides. RAII shows up right at the embedding call because I'm managing HTTP connection objects and buffers with automatic cleanup. Resource lifetime matters at the MongoDB stage because the driver's connection pool and BSON documents have to be managed explicitly. const-correctness shows up in context assembly because I'm passing retrieved chunks around by const reference to avoid copies and accidental mutation. And explicit error handling shows up at generateResponse because there's no framework retry wrapper — if the Gemini call fails, I have to catch that and decide what happens, myself.
Why this matters: this is really the answer to RQ3 and RQ4 together — you can see exactly where the pipeline touches operating-system-level and memory-level concerns that a Python framework would just abstract away.
Transition: now let's zoom into how the database side of this actually gets populated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"Before any query can run, the database has to actually contain something — this is how the knowledge base gets built."
What the visual means: a source document gets chunked, each chunk gets embedded into a 768-dimensional vector, and that vector gets written into MongoDB Atlas under a defined vector index.
Technical explanation: the specific numbers on screen are real — 768 dimensions because that's Gemini's embedding size, cosine similarity as the distance metric, and the index is literally named vector_index on the embedding path inside the ragnarok.knowledge_base collection. I want to be upfront here: ingestion itself runs through a small Python helper script, not C++. I used W3Schools content as the source corpus because it's clean, structured, and easy to chunk consistently.
Why this matters: I want to be honest about scope — the ingestion tooling is Python because it only runs once to populate the database, it's not part of the runtime RAG engine. The engine that actually answers queries — everything from the last few slides — is 100% C++. Mixing those up would misrepresent what the project claims.
Transition: now let's talk about what changes when you build the query side in C++ instead of using a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the core trade-off the whole project is built around."
What the visual means: on the left, a typical high-level RAG framework — you call something like retriever.query() and everything underneath is hidden: ingestion, connectors, retrieval, orchestration, prompting, all inside a box you don't have to open. On the right, RAGnarok — I opened that box. You can see HTTP handling, JSON parsing, BSON conversion, connection management, resource lifetime, vector search, and orchestration, all as things I wrote and own individually.
Technical explanation: concretely, where a framework gives you one function call, I'm calling cpr::Post directly for HTTP, building a mongocxx pipeline by hand for the vector search stage, and managing object lifetimes myself instead of a garbage collector doing it for me.
Why this matters — and I want to be careful here: this is not "RAGnarok is better." It's an abstraction trade-off. The framework side gets you to a working prototype faster with far less code. My side gives you visibility and control over every piece, at the cost of writing and maintaining all of it yourself. Neither one is universally correct — it depends what you're optimizing for.
Transition: since we're talking about overhead and control, let's actually look at where framework overhead has been measured, in published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 want to show one piece of outside data here, and I want to be very precise about what it does and doesn't mean."
What the visual means: these are published orchestration-overhead numbers for existing RAG frameworks — DSPy, Haystack, LlamaIndex, LangChain, LangGraph — ranging from about 3.5 milliseconds up to 14 milliseconds. This is NOT something I measured in RAGnarok. I'm citing it as outside context.
Technical explanation: orchestration overhead means the time the framework itself spends coordinating steps — routing, templating, callback handling — separate from the actual network calls to an LLM or database. So even the highest number here, LangGraph at 14ms, is small compared to typical LLM API latency, which is usually in the hundreds of milliseconds to seconds.
Why this matters: the point of this slide is not "RAGnarok is faster than LangChain" — I never measured RAGnarok against these numbers, and it would be dishonest to imply that. The actual point is that framework overhead, even at its highest, is a small piece of the total latency budget. Most of the time in a real RAG request goes to network and model inference, not orchestration code. That's a more interesting and more honest takeaway than a speed claim.
Transition: so given that, how do I actually plan to evaluate RAGnarok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slide is labeled 'evaluation plan,' deliberately — not results."
What the visual means: the grid on the left breaks evaluation into four dimensions. Correctness — using a small 10 to 20 document corpus, split into answerable and deliberately unanswerable questions, to check whether the system knows when it doesn't know. Retrieval — whether the top-K chunks pulled from MongoDB are actually relevant and whether the final answer stays grounded in them. Latency — breaking total request time into its component stages. Ergonomics — the development-side cost: boilerplate, dependency management, build effort, ongoing maintenance.
Technical explanation: on the right is the latency pipeline itself — preprocess, embed, retrieve, assemble, generate — which is the breakdown I'd actually instrument with timers to see where time goes in a real request, connecting back to the "where does latency go" question from the last slide.
Why this matters: I have not run this evaluation yet at the time of this defense, so I'm not going to stand up here and give you fabricated numbers. What I can show you is that the evaluation is designed thoughtfully across correctness, retrieval quality, latency, and developer ergonomics — which maps directly back to my four research questions.
Transition: now, just as importantly — let me be upfront about what this project does NOT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 want to spend real time on this slide, because being precise about limitations is part of doing this honestly."
What the visual means: four claims this project explicitly does NOT make. It does not prove C++ is universally better than Python — that was never the question. It does not demonstrate production-scale performance — I'm running against 10 to 20 documents on a single machine. It does not solve hallucinations — grounding reduces them, it doesn't eliminate them. And it does not demonstrate multi-user production readiness — there's no concurrency handling, no load testing, no auth layer.
Technical explanation: the scope is a single-user CLI tool against a small corpus. That's intentional — it's sized to actually answer my four research questions within a semester, not to be a product.
Why this matters: this is the difference between an engineering experiment and a product pitch. I'd rather you trust every claim I did make because I was equally clear about what I'm not claiming. A research defense that only lists strengths is less credible, not more.
Transition: so, pulling this together — what's the actual contribution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"So let me close by putting the pieces back together."
What the visual means: the contribution isn't a single benchmark number — it's four things stacked together. The architecture I showed you, the actual C++ implementation behind it, a measurement plan for evaluating it honestly, and a clear-eyed statement of its limitations. Together, that's what I'm calling engineering evidence.
Technical explanation: to restate it plainly — this project shows that C++17, using cpr for HTTP, nlohmann/json for parsing, and the official mongocxx driver, can implement a complete RAG pipeline end-to-end without a RAG framework in between. That answers RQ1, feasibility, directly. The architecture and request-flow slides answer RQ2. The benchmark discussion and evaluation plan address RQ3. And the abstraction comparison slide addresses RQ4, ergonomics.
Why this matters: the real contribution here is an honest engineering account of what's underneath the framework layer most RAG projects never touch. That's useful whether or not you ever choose to build in C++ yourself — it tells you what a framework is actually doing for you.
Transition: that's it — happy to take questions, whether it's about the architecture, the C++ specifics, or the evaluation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457200" y="320040"/>
            <a:ext cx="4572000" cy="228600"/>
          </a:xfrm>
          <a:prstGeom prst="rect">
            <a:avLst/>
          </a:prstGeom>
          <a:noFill/>
          <a:ln/>
        </p:spPr>
        <p:txBody>
          <a:bodyPr wrap="square" lIns="0" tIns="0" rIns="0" bIns="0" rtlCol="0" anchor="ctr"/>
          <a:lstStyle/>
          <a:p>
            <a:pPr algn="l" indent="0" marL="0">
              <a:buNone/>
            </a:pPr>
            <a:r>
              <a:rPr lang="en-US" sz="900" spc="50" kern="0" dirty="0">
                <a:solidFill>
                  <a:srgbClr val="5A646A"/>
                </a:solidFill>
                <a:latin typeface="Courier New" pitchFamily="34" charset="0"/>
                <a:ea typeface="Courier New" pitchFamily="34" charset="-122"/>
                <a:cs typeface="Courier New" pitchFamily="34" charset="-120"/>
              </a:rPr>
              <a:t>RAGNAROK.CPP</a:t>
            </a:r>
            <a:endParaRPr lang="en-US" sz="900" dirty="0"/>
          </a:p>
        </p:txBody>
      </p:sp>
      <p:sp>
        <p:nvSpPr>
          <p:cNvPr id="3" name="Text 1"/>
          <p:cNvSpPr/>
          <p:nvPr/>
        </p:nvSpPr>
        <p:spPr>
          <a:xfrm>
            <a:off x="8076895" y="320040"/>
            <a:ext cx="3657600" cy="228600"/>
          </a:xfrm>
          <a:prstGeom prst="rect">
            <a:avLst/>
          </a:prstGeom>
          <a:noFill/>
          <a:ln/>
        </p:spPr>
        <p:txBody>
          <a:bodyPr wrap="square" lIns="0" tIns="0" rIns="0" bIns="0" rtlCol="0" anchor="ctr"/>
          <a:lstStyle/>
          <a:p>
            <a:pPr algn="r" indent="0" marL="0">
              <a:buNone/>
            </a:pPr>
            <a:r>
              <a:rPr lang="en-US" sz="900" spc="50" kern="0" dirty="0">
                <a:solidFill>
                  <a:srgbClr val="5A646A"/>
                </a:solidFill>
                <a:latin typeface="Courier New" pitchFamily="34" charset="0"/>
                <a:ea typeface="Courier New" pitchFamily="34" charset="-122"/>
                <a:cs typeface="Courier New" pitchFamily="34" charset="-120"/>
              </a:rPr>
              <a:t>PROJECT DEFENSE — KING'S COLLEGE</a:t>
            </a:r>
            <a:endParaRPr lang="en-US" sz="900" dirty="0"/>
          </a:p>
        </p:txBody>
      </p:sp>
      <p:sp>
        <p:nvSpPr>
          <p:cNvPr id="4" name="Shape 2"/>
          <p:cNvSpPr/>
          <p:nvPr/>
        </p:nvSpPr>
        <p:spPr>
          <a:xfrm>
            <a:off x="457200" y="621792"/>
            <a:ext cx="11277295" cy="0"/>
          </a:xfrm>
          <a:prstGeom prst="line">
            <a:avLst/>
          </a:prstGeom>
          <a:noFill/>
          <a:ln w="9525">
            <a:solidFill>
              <a:srgbClr val="1D2427"/>
            </a:solidFill>
            <a:prstDash val="solid"/>
          </a:ln>
        </p:spPr>
      </p:sp>
      <p:sp>
        <p:nvSpPr>
          <p:cNvPr id="5" name="Shape 3"/>
          <p:cNvSpPr/>
          <p:nvPr/>
        </p:nvSpPr>
        <p:spPr>
          <a:xfrm>
            <a:off x="822960" y="1234440"/>
            <a:ext cx="10545775" cy="4160520"/>
          </a:xfrm>
          <a:prstGeom prst="rect">
            <a:avLst/>
          </a:prstGeom>
          <a:solidFill>
            <a:srgbClr val="12171A"/>
          </a:solidFill>
          <a:ln w="12700">
            <a:solidFill>
              <a:srgbClr val="2A3236"/>
            </a:solidFill>
            <a:prstDash val="solid"/>
          </a:ln>
        </p:spPr>
      </p:sp>
      <p:sp>
        <p:nvSpPr>
          <p:cNvPr id="6" name="Shape 4"/>
          <p:cNvSpPr/>
          <p:nvPr/>
        </p:nvSpPr>
        <p:spPr>
          <a:xfrm>
            <a:off x="822960" y="1234440"/>
            <a:ext cx="10545775" cy="365760"/>
          </a:xfrm>
          <a:prstGeom prst="rect">
            <a:avLst/>
          </a:prstGeom>
          <a:solidFill>
            <a:srgbClr val="0D1214"/>
          </a:solidFill>
          <a:ln w="12700">
            <a:solidFill>
              <a:srgbClr val="2A3236"/>
            </a:solidFill>
            <a:prstDash val="solid"/>
          </a:ln>
        </p:spPr>
      </p:sp>
      <p:sp>
        <p:nvSpPr>
          <p:cNvPr id="7" name="Shape 5"/>
          <p:cNvSpPr/>
          <p:nvPr/>
        </p:nvSpPr>
        <p:spPr>
          <a:xfrm>
            <a:off x="1024128" y="1353312"/>
            <a:ext cx="128016" cy="128016"/>
          </a:xfrm>
          <a:prstGeom prst="ellipse">
            <a:avLst/>
          </a:prstGeom>
          <a:solidFill>
            <a:srgbClr val="E85D5D"/>
          </a:solidFill>
          <a:ln/>
        </p:spPr>
      </p:sp>
      <p:sp>
        <p:nvSpPr>
          <p:cNvPr id="8" name="Shape 6"/>
          <p:cNvSpPr/>
          <p:nvPr/>
        </p:nvSpPr>
        <p:spPr>
          <a:xfrm>
            <a:off x="1280160" y="1353312"/>
            <a:ext cx="128016" cy="128016"/>
          </a:xfrm>
          <a:prstGeom prst="ellipse">
            <a:avLst/>
          </a:prstGeom>
          <a:solidFill>
            <a:srgbClr val="E8C15D"/>
          </a:solidFill>
          <a:ln/>
        </p:spPr>
      </p:sp>
      <p:sp>
        <p:nvSpPr>
          <p:cNvPr id="9" name="Shape 7"/>
          <p:cNvSpPr/>
          <p:nvPr/>
        </p:nvSpPr>
        <p:spPr>
          <a:xfrm>
            <a:off x="1536192" y="1353312"/>
            <a:ext cx="128016" cy="128016"/>
          </a:xfrm>
          <a:prstGeom prst="ellipse">
            <a:avLst/>
          </a:prstGeom>
          <a:solidFill>
            <a:srgbClr val="5DE87A"/>
          </a:solidFill>
          <a:ln/>
        </p:spPr>
      </p:sp>
      <p:sp>
        <p:nvSpPr>
          <p:cNvPr id="10" name="Text 8"/>
          <p:cNvSpPr/>
          <p:nvPr/>
        </p:nvSpPr>
        <p:spPr>
          <a:xfrm>
            <a:off x="822960" y="1234440"/>
            <a:ext cx="10545775" cy="365760"/>
          </a:xfrm>
          <a:prstGeom prst="rect">
            <a:avLst/>
          </a:prstGeom>
          <a:noFill/>
          <a:ln/>
        </p:spPr>
        <p:txBody>
          <a:bodyPr wrap="square" lIns="0" tIns="0" rIns="0" bIns="0" rtlCol="0" anchor="ctr"/>
          <a:lstStyle/>
          <a:p>
            <a:pPr algn="ctr" indent="0" marL="0">
              <a:buNone/>
            </a:pPr>
            <a:r>
              <a:rPr lang="en-US" sz="1050" dirty="0">
                <a:solidFill>
                  <a:srgbClr val="838E96"/>
                </a:solidFill>
                <a:latin typeface="Courier New" pitchFamily="34" charset="0"/>
                <a:ea typeface="Courier New" pitchFamily="34" charset="-122"/>
                <a:cs typeface="Courier New" pitchFamily="34" charset="-120"/>
              </a:rPr>
              <a:t>bash — ragnarok/build</a:t>
            </a:r>
            <a:endParaRPr lang="en-US" sz="1050" dirty="0"/>
          </a:p>
        </p:txBody>
      </p:sp>
      <p:sp>
        <p:nvSpPr>
          <p:cNvPr id="11" name="Text 9"/>
          <p:cNvSpPr/>
          <p:nvPr/>
        </p:nvSpPr>
        <p:spPr>
          <a:xfrm>
            <a:off x="1188720" y="1920240"/>
            <a:ext cx="9814255" cy="274320"/>
          </a:xfrm>
          <a:prstGeom prst="rect">
            <a:avLst/>
          </a:prstGeom>
          <a:noFill/>
          <a:ln/>
        </p:spPr>
        <p:txBody>
          <a:bodyPr wrap="square" lIns="0" tIns="0" rIns="0" bIns="0" rtlCol="0" anchor="ctr"/>
          <a:lstStyle/>
          <a:p>
            <a:pPr algn="l" indent="0" marL="0">
              <a:buNone/>
            </a:pPr>
            <a:r>
              <a:rPr lang="en-US" sz="1250" dirty="0">
                <a:solidFill>
                  <a:srgbClr val="838E96"/>
                </a:solidFill>
                <a:latin typeface="Courier New" pitchFamily="34" charset="0"/>
                <a:ea typeface="Courier New" pitchFamily="34" charset="-122"/>
                <a:cs typeface="Courier New" pitchFamily="34" charset="-120"/>
              </a:rPr>
              <a:t>$ git clone https://github.com/the-aadarsh/RAGnarok.git</a:t>
            </a:r>
            <a:endParaRPr lang="en-US" sz="1250" dirty="0"/>
          </a:p>
        </p:txBody>
      </p:sp>
      <p:sp>
        <p:nvSpPr>
          <p:cNvPr id="12" name="Text 10"/>
          <p:cNvSpPr/>
          <p:nvPr/>
        </p:nvSpPr>
        <p:spPr>
          <a:xfrm>
            <a:off x="1188720" y="2231136"/>
            <a:ext cx="9814255" cy="274320"/>
          </a:xfrm>
          <a:prstGeom prst="rect">
            <a:avLst/>
          </a:prstGeom>
          <a:noFill/>
          <a:ln/>
        </p:spPr>
        <p:txBody>
          <a:bodyPr wrap="square" lIns="0" tIns="0" rIns="0" bIns="0" rtlCol="0" anchor="ctr"/>
          <a:lstStyle/>
          <a:p>
            <a:pPr algn="l" indent="0" marL="0">
              <a:buNone/>
            </a:pPr>
            <a:r>
              <a:rPr lang="en-US" sz="1250" dirty="0">
                <a:solidFill>
                  <a:srgbClr val="838E96"/>
                </a:solidFill>
                <a:latin typeface="Courier New" pitchFamily="34" charset="0"/>
                <a:ea typeface="Courier New" pitchFamily="34" charset="-122"/>
                <a:cs typeface="Courier New" pitchFamily="34" charset="-120"/>
              </a:rPr>
              <a:t>$ cmake --preset default &amp;&amp; cmake --build build</a:t>
            </a:r>
            <a:endParaRPr lang="en-US" sz="1250" dirty="0"/>
          </a:p>
        </p:txBody>
      </p:sp>
      <p:sp>
        <p:nvSpPr>
          <p:cNvPr id="13" name="Text 11"/>
          <p:cNvSpPr/>
          <p:nvPr/>
        </p:nvSpPr>
        <p:spPr>
          <a:xfrm>
            <a:off x="1188720" y="2542032"/>
            <a:ext cx="9814255" cy="274320"/>
          </a:xfrm>
          <a:prstGeom prst="rect">
            <a:avLst/>
          </a:prstGeom>
          <a:noFill/>
          <a:ln/>
        </p:spPr>
        <p:txBody>
          <a:bodyPr wrap="square" lIns="0" tIns="0" rIns="0" bIns="0" rtlCol="0" anchor="ctr"/>
          <a:lstStyle/>
          <a:p>
            <a:pPr algn="l" indent="0" marL="0">
              <a:buNone/>
            </a:pPr>
            <a:r>
              <a:rPr lang="en-US" sz="1250" dirty="0">
                <a:solidFill>
                  <a:srgbClr val="5A646A"/>
                </a:solidFill>
                <a:latin typeface="Courier New" pitchFamily="34" charset="0"/>
                <a:ea typeface="Courier New" pitchFamily="34" charset="-122"/>
                <a:cs typeface="Courier New" pitchFamily="34" charset="-120"/>
              </a:rPr>
              <a:t>&gt; Compiling TutorEngine.cpp ...</a:t>
            </a:r>
            <a:endParaRPr lang="en-US" sz="1250" dirty="0"/>
          </a:p>
        </p:txBody>
      </p:sp>
      <p:sp>
        <p:nvSpPr>
          <p:cNvPr id="14" name="Text 12"/>
          <p:cNvSpPr/>
          <p:nvPr/>
        </p:nvSpPr>
        <p:spPr>
          <a:xfrm>
            <a:off x="1188720" y="2852928"/>
            <a:ext cx="9814255" cy="274320"/>
          </a:xfrm>
          <a:prstGeom prst="rect">
            <a:avLst/>
          </a:prstGeom>
          <a:noFill/>
          <a:ln/>
        </p:spPr>
        <p:txBody>
          <a:bodyPr wrap="square" lIns="0" tIns="0" rIns="0" bIns="0" rtlCol="0" anchor="ctr"/>
          <a:lstStyle/>
          <a:p>
            <a:pPr algn="l" indent="0" marL="0">
              <a:buNone/>
            </a:pPr>
            <a:r>
              <a:rPr lang="en-US" sz="1250" dirty="0">
                <a:solidFill>
                  <a:srgbClr val="5A646A"/>
                </a:solidFill>
                <a:latin typeface="Courier New" pitchFamily="34" charset="0"/>
                <a:ea typeface="Courier New" pitchFamily="34" charset="-122"/>
                <a:cs typeface="Courier New" pitchFamily="34" charset="-120"/>
              </a:rPr>
              <a:t>&gt; Linking GeminiClient, MongoDBClient ...</a:t>
            </a:r>
            <a:endParaRPr lang="en-US" sz="1250" dirty="0"/>
          </a:p>
        </p:txBody>
      </p:sp>
      <p:sp>
        <p:nvSpPr>
          <p:cNvPr id="15" name="Text 13"/>
          <p:cNvSpPr/>
          <p:nvPr/>
        </p:nvSpPr>
        <p:spPr>
          <a:xfrm>
            <a:off x="1188720" y="3163824"/>
            <a:ext cx="9814255" cy="274320"/>
          </a:xfrm>
          <a:prstGeom prst="rect">
            <a:avLst/>
          </a:prstGeom>
          <a:noFill/>
          <a:ln/>
        </p:spPr>
        <p:txBody>
          <a:bodyPr wrap="square" lIns="0" tIns="0" rIns="0" bIns="0" rtlCol="0" anchor="ctr"/>
          <a:lstStyle/>
          <a:p>
            <a:pPr algn="l" indent="0" marL="0">
              <a:buNone/>
            </a:pPr>
            <a:r>
              <a:rPr lang="en-US" sz="1250" dirty="0">
                <a:solidFill>
                  <a:srgbClr val="838E96"/>
                </a:solidFill>
                <a:latin typeface="Courier New" pitchFamily="34" charset="0"/>
                <a:ea typeface="Courier New" pitchFamily="34" charset="-122"/>
                <a:cs typeface="Courier New" pitchFamily="34" charset="-120"/>
              </a:rPr>
              <a:t>$ ./build/Release/ragnarok.exe</a:t>
            </a:r>
            <a:endParaRPr lang="en-US" sz="1250" dirty="0"/>
          </a:p>
        </p:txBody>
      </p:sp>
      <p:sp>
        <p:nvSpPr>
          <p:cNvPr id="16" name="Shape 14"/>
          <p:cNvSpPr/>
          <p:nvPr/>
        </p:nvSpPr>
        <p:spPr>
          <a:xfrm>
            <a:off x="1188720" y="3547872"/>
            <a:ext cx="9814255" cy="0"/>
          </a:xfrm>
          <a:prstGeom prst="line">
            <a:avLst/>
          </a:prstGeom>
          <a:noFill/>
          <a:ln w="9525">
            <a:solidFill>
              <a:srgbClr val="1D2427"/>
            </a:solidFill>
            <a:prstDash val="solid"/>
          </a:ln>
        </p:spPr>
      </p:sp>
      <p:sp>
        <p:nvSpPr>
          <p:cNvPr id="17" name="Text 15"/>
          <p:cNvSpPr/>
          <p:nvPr/>
        </p:nvSpPr>
        <p:spPr>
          <a:xfrm>
            <a:off x="1188720" y="3749040"/>
            <a:ext cx="9814255" cy="914400"/>
          </a:xfrm>
          <a:prstGeom prst="rect">
            <a:avLst/>
          </a:prstGeom>
          <a:noFill/>
          <a:ln/>
        </p:spPr>
        <p:txBody>
          <a:bodyPr wrap="square" lIns="0" tIns="0" rIns="0" bIns="0" rtlCol="0" anchor="ctr"/>
          <a:lstStyle/>
          <a:p>
            <a:pPr algn="l" indent="0" marL="0">
              <a:buNone/>
            </a:pPr>
            <a:r>
              <a:rPr lang="en-US" sz="4400" b="1" dirty="0">
                <a:solidFill>
                  <a:srgbClr val="EDEFF1"/>
                </a:solidFill>
                <a:latin typeface="Calibri" pitchFamily="34" charset="0"/>
                <a:ea typeface="Calibri" pitchFamily="34" charset="-122"/>
                <a:cs typeface="Calibri" pitchFamily="34" charset="-120"/>
              </a:rPr>
              <a:t>RAGNAROK</a:t>
            </a:r>
            <a:pPr algn="l" indent="0" marL="0">
              <a:buNone/>
            </a:pPr>
            <a:r>
              <a:rPr lang="en-US" sz="4400" b="1" dirty="0">
                <a:solidFill>
                  <a:srgbClr val="3FE0E8"/>
                </a:solidFill>
                <a:latin typeface="Calibri" pitchFamily="34" charset="0"/>
                <a:ea typeface="Calibri" pitchFamily="34" charset="-122"/>
                <a:cs typeface="Calibri" pitchFamily="34" charset="-120"/>
              </a:rPr>
              <a:t>.CPP</a:t>
            </a:r>
            <a:pPr algn="l" indent="0" marL="0">
              <a:buNone/>
            </a:pPr>
            <a:r>
              <a:rPr lang="en-US" sz="4400" b="1" dirty="0">
                <a:solidFill>
                  <a:srgbClr val="3FE0E8"/>
                </a:solidFill>
                <a:latin typeface="Calibri" pitchFamily="34" charset="0"/>
                <a:ea typeface="Calibri" pitchFamily="34" charset="-122"/>
                <a:cs typeface="Calibri" pitchFamily="34" charset="-120"/>
              </a:rPr>
              <a:t> █</a:t>
            </a:r>
            <a:endParaRPr lang="en-US" sz="4400" dirty="0"/>
          </a:p>
        </p:txBody>
      </p:sp>
      <p:sp>
        <p:nvSpPr>
          <p:cNvPr id="18" name="Text 16"/>
          <p:cNvSpPr/>
          <p:nvPr/>
        </p:nvSpPr>
        <p:spPr>
          <a:xfrm>
            <a:off x="1188720" y="4526280"/>
            <a:ext cx="9814255" cy="411480"/>
          </a:xfrm>
          <a:prstGeom prst="rect">
            <a:avLst/>
          </a:prstGeom>
          <a:noFill/>
          <a:ln/>
        </p:spPr>
        <p:txBody>
          <a:bodyPr wrap="square" lIns="0" tIns="0" rIns="0" bIns="0" rtlCol="0" anchor="ctr"/>
          <a:lstStyle/>
          <a:p>
            <a:pPr algn="l" indent="0" marL="0">
              <a:buNone/>
            </a:pPr>
            <a:r>
              <a:rPr lang="en-US" sz="1500" dirty="0">
                <a:solidFill>
                  <a:srgbClr val="838E96"/>
                </a:solidFill>
                <a:latin typeface="Courier New" pitchFamily="34" charset="0"/>
                <a:ea typeface="Courier New" pitchFamily="34" charset="-122"/>
                <a:cs typeface="Courier New" pitchFamily="34" charset="-120"/>
              </a:rPr>
              <a:t>Building RAG Below the Framework Layer</a:t>
            </a:r>
            <a:endParaRPr lang="en-US" sz="1500" dirty="0"/>
          </a:p>
        </p:txBody>
      </p:sp>
      <p:sp>
        <p:nvSpPr>
          <p:cNvPr id="19" name="Shape 17"/>
          <p:cNvSpPr/>
          <p:nvPr/>
        </p:nvSpPr>
        <p:spPr>
          <a:xfrm>
            <a:off x="822960" y="5715000"/>
            <a:ext cx="841248" cy="329184"/>
          </a:xfrm>
          <a:prstGeom prst="rect">
            <a:avLst/>
          </a:prstGeom>
          <a:solidFill>
            <a:srgbClr val="161C1F"/>
          </a:solidFill>
          <a:ln w="9525">
            <a:solidFill>
              <a:srgbClr val="2A3236"/>
            </a:solidFill>
            <a:prstDash val="solid"/>
          </a:ln>
        </p:spPr>
      </p:sp>
      <p:sp>
        <p:nvSpPr>
          <p:cNvPr id="20" name="Text 18"/>
          <p:cNvSpPr/>
          <p:nvPr/>
        </p:nvSpPr>
        <p:spPr>
          <a:xfrm>
            <a:off x="822960" y="5715000"/>
            <a:ext cx="841248" cy="329184"/>
          </a:xfrm>
          <a:prstGeom prst="rect">
            <a:avLst/>
          </a:prstGeom>
          <a:noFill/>
          <a:ln/>
        </p:spPr>
        <p:txBody>
          <a:bodyPr wrap="square" lIns="0" tIns="0" rIns="0" bIns="0" rtlCol="0" anchor="ctr"/>
          <a:lstStyle/>
          <a:p>
            <a:pPr algn="ctr" indent="0" marL="0">
              <a:buNone/>
            </a:pPr>
            <a:r>
              <a:rPr lang="en-US" sz="1000" dirty="0">
                <a:solidFill>
                  <a:srgbClr val="3FE0E8"/>
                </a:solidFill>
                <a:latin typeface="Courier New" pitchFamily="34" charset="0"/>
                <a:ea typeface="Courier New" pitchFamily="34" charset="-122"/>
                <a:cs typeface="Courier New" pitchFamily="34" charset="-120"/>
              </a:rPr>
              <a:t>C++17</a:t>
            </a:r>
            <a:endParaRPr lang="en-US" sz="1000" dirty="0"/>
          </a:p>
        </p:txBody>
      </p:sp>
      <p:sp>
        <p:nvSpPr>
          <p:cNvPr id="21" name="Shape 19"/>
          <p:cNvSpPr/>
          <p:nvPr/>
        </p:nvSpPr>
        <p:spPr>
          <a:xfrm>
            <a:off x="1828800" y="5715000"/>
            <a:ext cx="841248" cy="329184"/>
          </a:xfrm>
          <a:prstGeom prst="rect">
            <a:avLst/>
          </a:prstGeom>
          <a:solidFill>
            <a:srgbClr val="161C1F"/>
          </a:solidFill>
          <a:ln w="9525">
            <a:solidFill>
              <a:srgbClr val="2A3236"/>
            </a:solidFill>
            <a:prstDash val="solid"/>
          </a:ln>
        </p:spPr>
      </p:sp>
      <p:sp>
        <p:nvSpPr>
          <p:cNvPr id="22" name="Text 20"/>
          <p:cNvSpPr/>
          <p:nvPr/>
        </p:nvSpPr>
        <p:spPr>
          <a:xfrm>
            <a:off x="1828800" y="5715000"/>
            <a:ext cx="841248" cy="329184"/>
          </a:xfrm>
          <a:prstGeom prst="rect">
            <a:avLst/>
          </a:prstGeom>
          <a:noFill/>
          <a:ln/>
        </p:spPr>
        <p:txBody>
          <a:bodyPr wrap="square" lIns="0" tIns="0" rIns="0" bIns="0" rtlCol="0" anchor="ctr"/>
          <a:lstStyle/>
          <a:p>
            <a:pPr algn="ctr" indent="0" marL="0">
              <a:buNone/>
            </a:pPr>
            <a:r>
              <a:rPr lang="en-US" sz="1000" dirty="0">
                <a:solidFill>
                  <a:srgbClr val="3FE0E8"/>
                </a:solidFill>
                <a:latin typeface="Courier New" pitchFamily="34" charset="0"/>
                <a:ea typeface="Courier New" pitchFamily="34" charset="-122"/>
                <a:cs typeface="Courier New" pitchFamily="34" charset="-120"/>
              </a:rPr>
              <a:t>CMAKE</a:t>
            </a:r>
            <a:endParaRPr lang="en-US" sz="1000" dirty="0"/>
          </a:p>
        </p:txBody>
      </p:sp>
      <p:sp>
        <p:nvSpPr>
          <p:cNvPr id="23" name="Shape 21"/>
          <p:cNvSpPr/>
          <p:nvPr/>
        </p:nvSpPr>
        <p:spPr>
          <a:xfrm>
            <a:off x="2834640" y="5715000"/>
            <a:ext cx="841248" cy="329184"/>
          </a:xfrm>
          <a:prstGeom prst="rect">
            <a:avLst/>
          </a:prstGeom>
          <a:solidFill>
            <a:srgbClr val="161C1F"/>
          </a:solidFill>
          <a:ln w="9525">
            <a:solidFill>
              <a:srgbClr val="2A3236"/>
            </a:solidFill>
            <a:prstDash val="solid"/>
          </a:ln>
        </p:spPr>
      </p:sp>
      <p:sp>
        <p:nvSpPr>
          <p:cNvPr id="24" name="Text 22"/>
          <p:cNvSpPr/>
          <p:nvPr/>
        </p:nvSpPr>
        <p:spPr>
          <a:xfrm>
            <a:off x="2834640" y="5715000"/>
            <a:ext cx="841248" cy="329184"/>
          </a:xfrm>
          <a:prstGeom prst="rect">
            <a:avLst/>
          </a:prstGeom>
          <a:noFill/>
          <a:ln/>
        </p:spPr>
        <p:txBody>
          <a:bodyPr wrap="square" lIns="0" tIns="0" rIns="0" bIns="0" rtlCol="0" anchor="ctr"/>
          <a:lstStyle/>
          <a:p>
            <a:pPr algn="ctr" indent="0" marL="0">
              <a:buNone/>
            </a:pPr>
            <a:r>
              <a:rPr lang="en-US" sz="1000" dirty="0">
                <a:solidFill>
                  <a:srgbClr val="3FE0E8"/>
                </a:solidFill>
                <a:latin typeface="Courier New" pitchFamily="34" charset="0"/>
                <a:ea typeface="Courier New" pitchFamily="34" charset="-122"/>
                <a:cs typeface="Courier New" pitchFamily="34" charset="-120"/>
              </a:rPr>
              <a:t>VCPKG</a:t>
            </a:r>
            <a:endParaRPr lang="en-US" sz="1000" dirty="0"/>
          </a:p>
        </p:txBody>
      </p:sp>
      <p:sp>
        <p:nvSpPr>
          <p:cNvPr id="25" name="Shape 23"/>
          <p:cNvSpPr/>
          <p:nvPr/>
        </p:nvSpPr>
        <p:spPr>
          <a:xfrm>
            <a:off x="3840480" y="5715000"/>
            <a:ext cx="1389888" cy="329184"/>
          </a:xfrm>
          <a:prstGeom prst="rect">
            <a:avLst/>
          </a:prstGeom>
          <a:solidFill>
            <a:srgbClr val="161C1F"/>
          </a:solidFill>
          <a:ln w="9525">
            <a:solidFill>
              <a:srgbClr val="2A3236"/>
            </a:solidFill>
            <a:prstDash val="solid"/>
          </a:ln>
        </p:spPr>
      </p:sp>
      <p:sp>
        <p:nvSpPr>
          <p:cNvPr id="26" name="Text 24"/>
          <p:cNvSpPr/>
          <p:nvPr/>
        </p:nvSpPr>
        <p:spPr>
          <a:xfrm>
            <a:off x="3840480" y="5715000"/>
            <a:ext cx="1389888" cy="329184"/>
          </a:xfrm>
          <a:prstGeom prst="rect">
            <a:avLst/>
          </a:prstGeom>
          <a:noFill/>
          <a:ln/>
        </p:spPr>
        <p:txBody>
          <a:bodyPr wrap="square" lIns="0" tIns="0" rIns="0" bIns="0" rtlCol="0" anchor="ctr"/>
          <a:lstStyle/>
          <a:p>
            <a:pPr algn="ctr" indent="0" marL="0">
              <a:buNone/>
            </a:pPr>
            <a:r>
              <a:rPr lang="en-US" sz="1000" dirty="0">
                <a:solidFill>
                  <a:srgbClr val="3FE0E8"/>
                </a:solidFill>
                <a:latin typeface="Courier New" pitchFamily="34" charset="0"/>
                <a:ea typeface="Courier New" pitchFamily="34" charset="-122"/>
                <a:cs typeface="Courier New" pitchFamily="34" charset="-120"/>
              </a:rPr>
              <a:t>GEMINI API</a:t>
            </a:r>
            <a:endParaRPr lang="en-US" sz="1000" dirty="0"/>
          </a:p>
        </p:txBody>
      </p:sp>
      <p:sp>
        <p:nvSpPr>
          <p:cNvPr id="27" name="Shape 25"/>
          <p:cNvSpPr/>
          <p:nvPr/>
        </p:nvSpPr>
        <p:spPr>
          <a:xfrm>
            <a:off x="5394960" y="5715000"/>
            <a:ext cx="1719072" cy="329184"/>
          </a:xfrm>
          <a:prstGeom prst="rect">
            <a:avLst/>
          </a:prstGeom>
          <a:solidFill>
            <a:srgbClr val="161C1F"/>
          </a:solidFill>
          <a:ln w="9525">
            <a:solidFill>
              <a:srgbClr val="2A3236"/>
            </a:solidFill>
            <a:prstDash val="solid"/>
          </a:ln>
        </p:spPr>
      </p:sp>
      <p:sp>
        <p:nvSpPr>
          <p:cNvPr id="28" name="Text 26"/>
          <p:cNvSpPr/>
          <p:nvPr/>
        </p:nvSpPr>
        <p:spPr>
          <a:xfrm>
            <a:off x="5394960" y="5715000"/>
            <a:ext cx="1719072" cy="329184"/>
          </a:xfrm>
          <a:prstGeom prst="rect">
            <a:avLst/>
          </a:prstGeom>
          <a:noFill/>
          <a:ln/>
        </p:spPr>
        <p:txBody>
          <a:bodyPr wrap="square" lIns="0" tIns="0" rIns="0" bIns="0" rtlCol="0" anchor="ctr"/>
          <a:lstStyle/>
          <a:p>
            <a:pPr algn="ctr" indent="0" marL="0">
              <a:buNone/>
            </a:pPr>
            <a:r>
              <a:rPr lang="en-US" sz="1000" dirty="0">
                <a:solidFill>
                  <a:srgbClr val="3FE0E8"/>
                </a:solidFill>
                <a:latin typeface="Courier New" pitchFamily="34" charset="0"/>
                <a:ea typeface="Courier New" pitchFamily="34" charset="-122"/>
                <a:cs typeface="Courier New" pitchFamily="34" charset="-120"/>
              </a:rPr>
              <a:t>MONGODB ATLAS</a:t>
            </a:r>
            <a:endParaRPr lang="en-US" sz="1000" dirty="0"/>
          </a:p>
        </p:txBody>
      </p:sp>
      <p:sp>
        <p:nvSpPr>
          <p:cNvPr id="29" name="Text 27"/>
          <p:cNvSpPr/>
          <p:nvPr/>
        </p:nvSpPr>
        <p:spPr>
          <a:xfrm>
            <a:off x="8899855" y="5788152"/>
            <a:ext cx="2834640" cy="228600"/>
          </a:xfrm>
          <a:prstGeom prst="rect">
            <a:avLst/>
          </a:prstGeom>
          <a:noFill/>
          <a:ln/>
        </p:spPr>
        <p:txBody>
          <a:bodyPr wrap="square" lIns="0" tIns="0" rIns="0" bIns="0" rtlCol="0" anchor="ctr"/>
          <a:lstStyle/>
          <a:p>
            <a:pPr algn="r" indent="0" marL="0">
              <a:buNone/>
            </a:pPr>
            <a:r>
              <a:rPr lang="en-US" sz="1000" spc="50" kern="0" dirty="0">
                <a:solidFill>
                  <a:srgbClr val="5A646A"/>
                </a:solidFill>
                <a:latin typeface="Courier New" pitchFamily="34" charset="0"/>
                <a:ea typeface="Courier New" pitchFamily="34" charset="-122"/>
                <a:cs typeface="Courier New" pitchFamily="34" charset="-120"/>
              </a:rPr>
              <a:t>github.com/the-aadarsh/RAGnarok</a:t>
            </a:r>
            <a:endParaRPr lang="en-US" sz="1000" dirty="0"/>
          </a:p>
        </p:txBody>
      </p:sp>
      <p:sp>
        <p:nvSpPr>
          <p:cNvPr id="30" name="Text 28"/>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822960" y="548640"/>
            <a:ext cx="3657600" cy="274320"/>
          </a:xfrm>
          <a:prstGeom prst="rect">
            <a:avLst/>
          </a:prstGeom>
          <a:noFill/>
          <a:ln/>
        </p:spPr>
        <p:txBody>
          <a:bodyPr wrap="square" lIns="0" tIns="0" rIns="0" bIns="0" rtlCol="0" anchor="ctr"/>
          <a:lstStyle/>
          <a:p>
            <a:pPr algn="l" indent="0" marL="0">
              <a:buNone/>
            </a:pPr>
            <a:r>
              <a:rPr lang="en-US" sz="1100" spc="200" kern="0" dirty="0">
                <a:solidFill>
                  <a:srgbClr val="3FE0E8"/>
                </a:solidFill>
                <a:latin typeface="Courier New" pitchFamily="34" charset="0"/>
                <a:ea typeface="Courier New" pitchFamily="34" charset="-122"/>
                <a:cs typeface="Courier New" pitchFamily="34" charset="-120"/>
              </a:rPr>
              <a:t>02 — THE QUESTION</a:t>
            </a:r>
            <a:endParaRPr lang="en-US" sz="1100" dirty="0"/>
          </a:p>
        </p:txBody>
      </p:sp>
      <p:sp>
        <p:nvSpPr>
          <p:cNvPr id="3" name="Shape 1"/>
          <p:cNvSpPr/>
          <p:nvPr/>
        </p:nvSpPr>
        <p:spPr>
          <a:xfrm>
            <a:off x="822960" y="868680"/>
            <a:ext cx="10545775" cy="0"/>
          </a:xfrm>
          <a:prstGeom prst="line">
            <a:avLst/>
          </a:prstGeom>
          <a:noFill/>
          <a:ln w="9525">
            <a:solidFill>
              <a:srgbClr val="1D2427"/>
            </a:solidFill>
            <a:prstDash val="solid"/>
          </a:ln>
        </p:spPr>
      </p:sp>
      <p:sp>
        <p:nvSpPr>
          <p:cNvPr id="4" name="Text 2"/>
          <p:cNvSpPr/>
          <p:nvPr/>
        </p:nvSpPr>
        <p:spPr>
          <a:xfrm>
            <a:off x="822960" y="1371600"/>
            <a:ext cx="10545775" cy="640080"/>
          </a:xfrm>
          <a:prstGeom prst="rect">
            <a:avLst/>
          </a:prstGeom>
          <a:noFill/>
          <a:ln/>
        </p:spPr>
        <p:txBody>
          <a:bodyPr wrap="square" lIns="0" tIns="0" rIns="0" bIns="0" rtlCol="0" anchor="ctr"/>
          <a:lstStyle/>
          <a:p>
            <a:pPr algn="l" indent="0" marL="0">
              <a:buNone/>
            </a:pPr>
            <a:r>
              <a:rPr lang="en-US" sz="2000" dirty="0">
                <a:solidFill>
                  <a:srgbClr val="5A646A"/>
                </a:solidFill>
                <a:latin typeface="Courier New" pitchFamily="34" charset="0"/>
                <a:ea typeface="Courier New" pitchFamily="34" charset="-122"/>
                <a:cs typeface="Courier New" pitchFamily="34" charset="-120"/>
              </a:rPr>
              <a:t>“IS C++ BETTER THAN PYTHON?”</a:t>
            </a:r>
            <a:endParaRPr lang="en-US" sz="2000" dirty="0"/>
          </a:p>
        </p:txBody>
      </p:sp>
      <p:sp>
        <p:nvSpPr>
          <p:cNvPr id="5" name="Shape 3"/>
          <p:cNvSpPr/>
          <p:nvPr/>
        </p:nvSpPr>
        <p:spPr>
          <a:xfrm>
            <a:off x="868680" y="1700784"/>
            <a:ext cx="6949440" cy="0"/>
          </a:xfrm>
          <a:prstGeom prst="line">
            <a:avLst/>
          </a:prstGeom>
          <a:noFill/>
          <a:ln w="19050">
            <a:solidFill>
              <a:srgbClr val="E85D5D"/>
            </a:solidFill>
            <a:prstDash val="solid"/>
          </a:ln>
        </p:spPr>
      </p:sp>
      <p:sp>
        <p:nvSpPr>
          <p:cNvPr id="6" name="Text 4"/>
          <p:cNvSpPr/>
          <p:nvPr/>
        </p:nvSpPr>
        <p:spPr>
          <a:xfrm>
            <a:off x="7955280" y="1371600"/>
            <a:ext cx="3291840" cy="457200"/>
          </a:xfrm>
          <a:prstGeom prst="rect">
            <a:avLst/>
          </a:prstGeom>
          <a:noFill/>
          <a:ln/>
        </p:spPr>
        <p:txBody>
          <a:bodyPr wrap="square" lIns="0" tIns="0" rIns="0" bIns="0" rtlCol="0" anchor="ctr"/>
          <a:lstStyle/>
          <a:p>
            <a:pPr algn="l" indent="0" marL="0">
              <a:buNone/>
            </a:pPr>
            <a:r>
              <a:rPr lang="en-US" sz="1100" dirty="0">
                <a:solidFill>
                  <a:srgbClr val="E85D5D"/>
                </a:solidFill>
                <a:latin typeface="Courier New" pitchFamily="34" charset="0"/>
                <a:ea typeface="Courier New" pitchFamily="34" charset="-122"/>
                <a:cs typeface="Courier New" pitchFamily="34" charset="-120"/>
              </a:rPr>
              <a:t>NOT THE QUESTION</a:t>
            </a:r>
            <a:endParaRPr lang="en-US" sz="1100" dirty="0"/>
          </a:p>
        </p:txBody>
      </p:sp>
      <p:sp>
        <p:nvSpPr>
          <p:cNvPr id="7" name="Text 5"/>
          <p:cNvSpPr/>
          <p:nvPr/>
        </p:nvSpPr>
        <p:spPr>
          <a:xfrm>
            <a:off x="822960" y="2377440"/>
            <a:ext cx="10545775" cy="2651760"/>
          </a:xfrm>
          <a:prstGeom prst="rect">
            <a:avLst/>
          </a:prstGeom>
          <a:noFill/>
          <a:ln/>
        </p:spPr>
        <p:txBody>
          <a:bodyPr wrap="square" lIns="0" tIns="0" rIns="0" bIns="0" rtlCol="0" anchor="ctr"/>
          <a:lstStyle/>
          <a:p>
            <a:pPr algn="l" indent="0" marL="0">
              <a:lnSpc>
                <a:spcPct val="112000"/>
              </a:lnSpc>
              <a:buNone/>
            </a:pPr>
            <a:r>
              <a:rPr lang="en-US" sz="4000" b="1" dirty="0">
                <a:solidFill>
                  <a:srgbClr val="EDEFF1"/>
                </a:solidFill>
                <a:latin typeface="Calibri" pitchFamily="34" charset="0"/>
                <a:ea typeface="Calibri" pitchFamily="34" charset="-122"/>
                <a:cs typeface="Calibri" pitchFamily="34" charset="-120"/>
              </a:rPr>
              <a:t>What does RAG actually
</a:t>
            </a:r>
            <a:pPr algn="l" indent="0" marL="0">
              <a:lnSpc>
                <a:spcPct val="112000"/>
              </a:lnSpc>
              <a:buNone/>
            </a:pPr>
            <a:r>
              <a:rPr lang="en-US" sz="4000" b="1" dirty="0">
                <a:solidFill>
                  <a:srgbClr val="EDEFF1"/>
                </a:solidFill>
                <a:latin typeface="Calibri" pitchFamily="34" charset="0"/>
                <a:ea typeface="Calibri" pitchFamily="34" charset="-122"/>
                <a:cs typeface="Calibri" pitchFamily="34" charset="-120"/>
              </a:rPr>
              <a:t>require </a:t>
            </a:r>
            <a:pPr algn="l" indent="0" marL="0">
              <a:lnSpc>
                <a:spcPct val="112000"/>
              </a:lnSpc>
              <a:buNone/>
            </a:pPr>
            <a:r>
              <a:rPr lang="en-US" sz="4000" b="1" dirty="0">
                <a:solidFill>
                  <a:srgbClr val="3FE0E8"/>
                </a:solidFill>
                <a:latin typeface="Calibri" pitchFamily="34" charset="0"/>
                <a:ea typeface="Calibri" pitchFamily="34" charset="-122"/>
                <a:cs typeface="Calibri" pitchFamily="34" charset="-120"/>
              </a:rPr>
              <a:t>below
</a:t>
            </a:r>
            <a:pPr algn="l" indent="0" marL="0">
              <a:lnSpc>
                <a:spcPct val="112000"/>
              </a:lnSpc>
              <a:buNone/>
            </a:pPr>
            <a:r>
              <a:rPr lang="en-US" sz="4000" b="1" dirty="0">
                <a:solidFill>
                  <a:srgbClr val="EDEFF1"/>
                </a:solidFill>
                <a:latin typeface="Calibri" pitchFamily="34" charset="0"/>
                <a:ea typeface="Calibri" pitchFamily="34" charset="-122"/>
                <a:cs typeface="Calibri" pitchFamily="34" charset="-120"/>
              </a:rPr>
              <a:t>the framework abstraction layer?</a:t>
            </a:r>
            <a:endParaRPr lang="en-US" sz="4000" dirty="0"/>
          </a:p>
        </p:txBody>
      </p:sp>
      <p:sp>
        <p:nvSpPr>
          <p:cNvPr id="8" name="Shape 6"/>
          <p:cNvSpPr/>
          <p:nvPr/>
        </p:nvSpPr>
        <p:spPr>
          <a:xfrm>
            <a:off x="822960" y="5257800"/>
            <a:ext cx="10545775" cy="0"/>
          </a:xfrm>
          <a:prstGeom prst="line">
            <a:avLst/>
          </a:prstGeom>
          <a:noFill/>
          <a:ln w="9525">
            <a:solidFill>
              <a:srgbClr val="1D2427"/>
            </a:solidFill>
            <a:prstDash val="solid"/>
          </a:ln>
        </p:spPr>
      </p:sp>
      <p:sp>
        <p:nvSpPr>
          <p:cNvPr id="9" name="Shape 7"/>
          <p:cNvSpPr/>
          <p:nvPr/>
        </p:nvSpPr>
        <p:spPr>
          <a:xfrm>
            <a:off x="822960" y="5577840"/>
            <a:ext cx="2430704" cy="685800"/>
          </a:xfrm>
          <a:prstGeom prst="rect">
            <a:avLst/>
          </a:prstGeom>
          <a:solidFill>
            <a:srgbClr val="12171A"/>
          </a:solidFill>
          <a:ln w="12700">
            <a:solidFill>
              <a:srgbClr val="2A3236"/>
            </a:solidFill>
            <a:prstDash val="solid"/>
          </a:ln>
        </p:spPr>
      </p:sp>
      <p:sp>
        <p:nvSpPr>
          <p:cNvPr id="10" name="Text 8"/>
          <p:cNvSpPr/>
          <p:nvPr/>
        </p:nvSpPr>
        <p:spPr>
          <a:xfrm>
            <a:off x="822960" y="5577840"/>
            <a:ext cx="2430704" cy="685800"/>
          </a:xfrm>
          <a:prstGeom prst="rect">
            <a:avLst/>
          </a:prstGeom>
          <a:noFill/>
          <a:ln/>
        </p:spPr>
        <p:txBody>
          <a:bodyPr wrap="square" lIns="0" tIns="0" rIns="0" bIns="0" rtlCol="0" anchor="ctr"/>
          <a:lstStyle/>
          <a:p>
            <a:pPr algn="ctr" indent="0" marL="0">
              <a:lnSpc>
                <a:spcPct val="115000"/>
              </a:lnSpc>
              <a:buNone/>
            </a:pPr>
            <a:r>
              <a:rPr lang="en-US" sz="1400" b="1" dirty="0">
                <a:solidFill>
                  <a:srgbClr val="3FE0E8"/>
                </a:solidFill>
                <a:latin typeface="Courier New" pitchFamily="34" charset="0"/>
                <a:ea typeface="Courier New" pitchFamily="34" charset="-122"/>
                <a:cs typeface="Courier New" pitchFamily="34" charset="-120"/>
              </a:rPr>
              <a:t>RQ1
</a:t>
            </a:r>
            <a:pPr algn="ctr" indent="0" marL="0">
              <a:lnSpc>
                <a:spcPct val="115000"/>
              </a:lnSpc>
              <a:buNone/>
            </a:pPr>
            <a:r>
              <a:rPr lang="en-US" sz="1050" dirty="0">
                <a:solidFill>
                  <a:srgbClr val="838E96"/>
                </a:solidFill>
                <a:latin typeface="Courier New" pitchFamily="34" charset="0"/>
                <a:ea typeface="Courier New" pitchFamily="34" charset="-122"/>
                <a:cs typeface="Courier New" pitchFamily="34" charset="-120"/>
              </a:rPr>
              <a:t>FEASIBILITY</a:t>
            </a:r>
            <a:endParaRPr lang="en-US" sz="1400" dirty="0"/>
          </a:p>
        </p:txBody>
      </p:sp>
      <p:sp>
        <p:nvSpPr>
          <p:cNvPr id="11" name="Shape 9"/>
          <p:cNvSpPr/>
          <p:nvPr/>
        </p:nvSpPr>
        <p:spPr>
          <a:xfrm>
            <a:off x="3527984" y="5577840"/>
            <a:ext cx="2430704" cy="685800"/>
          </a:xfrm>
          <a:prstGeom prst="rect">
            <a:avLst/>
          </a:prstGeom>
          <a:solidFill>
            <a:srgbClr val="12171A"/>
          </a:solidFill>
          <a:ln w="12700">
            <a:solidFill>
              <a:srgbClr val="2A3236"/>
            </a:solidFill>
            <a:prstDash val="solid"/>
          </a:ln>
        </p:spPr>
      </p:sp>
      <p:sp>
        <p:nvSpPr>
          <p:cNvPr id="12" name="Text 10"/>
          <p:cNvSpPr/>
          <p:nvPr/>
        </p:nvSpPr>
        <p:spPr>
          <a:xfrm>
            <a:off x="3527984" y="5577840"/>
            <a:ext cx="2430704" cy="685800"/>
          </a:xfrm>
          <a:prstGeom prst="rect">
            <a:avLst/>
          </a:prstGeom>
          <a:noFill/>
          <a:ln/>
        </p:spPr>
        <p:txBody>
          <a:bodyPr wrap="square" lIns="0" tIns="0" rIns="0" bIns="0" rtlCol="0" anchor="ctr"/>
          <a:lstStyle/>
          <a:p>
            <a:pPr algn="ctr" indent="0" marL="0">
              <a:lnSpc>
                <a:spcPct val="115000"/>
              </a:lnSpc>
              <a:buNone/>
            </a:pPr>
            <a:r>
              <a:rPr lang="en-US" sz="1400" b="1" dirty="0">
                <a:solidFill>
                  <a:srgbClr val="3FE0E8"/>
                </a:solidFill>
                <a:latin typeface="Courier New" pitchFamily="34" charset="0"/>
                <a:ea typeface="Courier New" pitchFamily="34" charset="-122"/>
                <a:cs typeface="Courier New" pitchFamily="34" charset="-120"/>
              </a:rPr>
              <a:t>RQ2
</a:t>
            </a:r>
            <a:pPr algn="ctr" indent="0" marL="0">
              <a:lnSpc>
                <a:spcPct val="115000"/>
              </a:lnSpc>
              <a:buNone/>
            </a:pPr>
            <a:r>
              <a:rPr lang="en-US" sz="1050" dirty="0">
                <a:solidFill>
                  <a:srgbClr val="838E96"/>
                </a:solidFill>
                <a:latin typeface="Courier New" pitchFamily="34" charset="0"/>
                <a:ea typeface="Courier New" pitchFamily="34" charset="-122"/>
                <a:cs typeface="Courier New" pitchFamily="34" charset="-120"/>
              </a:rPr>
              <a:t>ARCHITECTURE</a:t>
            </a:r>
            <a:endParaRPr lang="en-US" sz="1400" dirty="0"/>
          </a:p>
        </p:txBody>
      </p:sp>
      <p:sp>
        <p:nvSpPr>
          <p:cNvPr id="13" name="Shape 11"/>
          <p:cNvSpPr/>
          <p:nvPr/>
        </p:nvSpPr>
        <p:spPr>
          <a:xfrm>
            <a:off x="6233008" y="5577840"/>
            <a:ext cx="2430704" cy="685800"/>
          </a:xfrm>
          <a:prstGeom prst="rect">
            <a:avLst/>
          </a:prstGeom>
          <a:solidFill>
            <a:srgbClr val="12171A"/>
          </a:solidFill>
          <a:ln w="12700">
            <a:solidFill>
              <a:srgbClr val="2A3236"/>
            </a:solidFill>
            <a:prstDash val="solid"/>
          </a:ln>
        </p:spPr>
      </p:sp>
      <p:sp>
        <p:nvSpPr>
          <p:cNvPr id="14" name="Text 12"/>
          <p:cNvSpPr/>
          <p:nvPr/>
        </p:nvSpPr>
        <p:spPr>
          <a:xfrm>
            <a:off x="6233008" y="5577840"/>
            <a:ext cx="2430704" cy="685800"/>
          </a:xfrm>
          <a:prstGeom prst="rect">
            <a:avLst/>
          </a:prstGeom>
          <a:noFill/>
          <a:ln/>
        </p:spPr>
        <p:txBody>
          <a:bodyPr wrap="square" lIns="0" tIns="0" rIns="0" bIns="0" rtlCol="0" anchor="ctr"/>
          <a:lstStyle/>
          <a:p>
            <a:pPr algn="ctr" indent="0" marL="0">
              <a:lnSpc>
                <a:spcPct val="115000"/>
              </a:lnSpc>
              <a:buNone/>
            </a:pPr>
            <a:r>
              <a:rPr lang="en-US" sz="1400" b="1" dirty="0">
                <a:solidFill>
                  <a:srgbClr val="3FE0E8"/>
                </a:solidFill>
                <a:latin typeface="Courier New" pitchFamily="34" charset="0"/>
                <a:ea typeface="Courier New" pitchFamily="34" charset="-122"/>
                <a:cs typeface="Courier New" pitchFamily="34" charset="-120"/>
              </a:rPr>
              <a:t>RQ3
</a:t>
            </a:r>
            <a:pPr algn="ctr" indent="0" marL="0">
              <a:lnSpc>
                <a:spcPct val="115000"/>
              </a:lnSpc>
              <a:buNone/>
            </a:pPr>
            <a:r>
              <a:rPr lang="en-US" sz="1050" dirty="0">
                <a:solidFill>
                  <a:srgbClr val="838E96"/>
                </a:solidFill>
                <a:latin typeface="Courier New" pitchFamily="34" charset="0"/>
                <a:ea typeface="Courier New" pitchFamily="34" charset="-122"/>
                <a:cs typeface="Courier New" pitchFamily="34" charset="-120"/>
              </a:rPr>
              <a:t>PERFORMANCE</a:t>
            </a:r>
            <a:endParaRPr lang="en-US" sz="1400" dirty="0"/>
          </a:p>
        </p:txBody>
      </p:sp>
      <p:sp>
        <p:nvSpPr>
          <p:cNvPr id="15" name="Shape 13"/>
          <p:cNvSpPr/>
          <p:nvPr/>
        </p:nvSpPr>
        <p:spPr>
          <a:xfrm>
            <a:off x="8938031" y="5577840"/>
            <a:ext cx="2430704" cy="685800"/>
          </a:xfrm>
          <a:prstGeom prst="rect">
            <a:avLst/>
          </a:prstGeom>
          <a:solidFill>
            <a:srgbClr val="12171A"/>
          </a:solidFill>
          <a:ln w="12700">
            <a:solidFill>
              <a:srgbClr val="2A3236"/>
            </a:solidFill>
            <a:prstDash val="solid"/>
          </a:ln>
        </p:spPr>
      </p:sp>
      <p:sp>
        <p:nvSpPr>
          <p:cNvPr id="16" name="Text 14"/>
          <p:cNvSpPr/>
          <p:nvPr/>
        </p:nvSpPr>
        <p:spPr>
          <a:xfrm>
            <a:off x="8938031" y="5577840"/>
            <a:ext cx="2430704" cy="685800"/>
          </a:xfrm>
          <a:prstGeom prst="rect">
            <a:avLst/>
          </a:prstGeom>
          <a:noFill/>
          <a:ln/>
        </p:spPr>
        <p:txBody>
          <a:bodyPr wrap="square" lIns="0" tIns="0" rIns="0" bIns="0" rtlCol="0" anchor="ctr"/>
          <a:lstStyle/>
          <a:p>
            <a:pPr algn="ctr" indent="0" marL="0">
              <a:lnSpc>
                <a:spcPct val="115000"/>
              </a:lnSpc>
              <a:buNone/>
            </a:pPr>
            <a:r>
              <a:rPr lang="en-US" sz="1400" b="1" dirty="0">
                <a:solidFill>
                  <a:srgbClr val="3FE0E8"/>
                </a:solidFill>
                <a:latin typeface="Courier New" pitchFamily="34" charset="0"/>
                <a:ea typeface="Courier New" pitchFamily="34" charset="-122"/>
                <a:cs typeface="Courier New" pitchFamily="34" charset="-120"/>
              </a:rPr>
              <a:t>RQ4
</a:t>
            </a:r>
            <a:pPr algn="ctr" indent="0" marL="0">
              <a:lnSpc>
                <a:spcPct val="115000"/>
              </a:lnSpc>
              <a:buNone/>
            </a:pPr>
            <a:r>
              <a:rPr lang="en-US" sz="1050" dirty="0">
                <a:solidFill>
                  <a:srgbClr val="838E96"/>
                </a:solidFill>
                <a:latin typeface="Courier New" pitchFamily="34" charset="0"/>
                <a:ea typeface="Courier New" pitchFamily="34" charset="-122"/>
                <a:cs typeface="Courier New" pitchFamily="34" charset="-120"/>
              </a:rPr>
              <a:t>ERGONOMICS</a:t>
            </a:r>
            <a:endParaRPr lang="en-US" sz="1400" dirty="0"/>
          </a:p>
        </p:txBody>
      </p:sp>
      <p:sp>
        <p:nvSpPr>
          <p:cNvPr id="17" name="Text 15"/>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548640" y="411480"/>
            <a:ext cx="3657600" cy="274320"/>
          </a:xfrm>
          <a:prstGeom prst="rect">
            <a:avLst/>
          </a:prstGeom>
          <a:noFill/>
          <a:ln/>
        </p:spPr>
        <p:txBody>
          <a:bodyPr wrap="square" lIns="0" tIns="0" rIns="0" bIns="0" rtlCol="0" anchor="ctr"/>
          <a:lstStyle/>
          <a:p>
            <a:pPr algn="l" indent="0" marL="0">
              <a:buNone/>
            </a:pPr>
            <a:r>
              <a:rPr lang="en-US" sz="1100" spc="200" kern="0" dirty="0">
                <a:solidFill>
                  <a:srgbClr val="3FE0E8"/>
                </a:solidFill>
                <a:latin typeface="Courier New" pitchFamily="34" charset="0"/>
                <a:ea typeface="Courier New" pitchFamily="34" charset="-122"/>
                <a:cs typeface="Courier New" pitchFamily="34" charset="-120"/>
              </a:rPr>
              <a:t>03 — THE SYSTEM</a:t>
            </a:r>
            <a:endParaRPr lang="en-US" sz="1100" dirty="0"/>
          </a:p>
        </p:txBody>
      </p:sp>
      <p:sp>
        <p:nvSpPr>
          <p:cNvPr id="3" name="Text 1"/>
          <p:cNvSpPr/>
          <p:nvPr/>
        </p:nvSpPr>
        <p:spPr>
          <a:xfrm>
            <a:off x="548640" y="658368"/>
            <a:ext cx="7315200" cy="320040"/>
          </a:xfrm>
          <a:prstGeom prst="rect">
            <a:avLst/>
          </a:prstGeom>
          <a:noFill/>
          <a:ln/>
        </p:spPr>
        <p:txBody>
          <a:bodyPr wrap="square" lIns="0" tIns="0" rIns="0" bIns="0" rtlCol="0" anchor="ctr"/>
          <a:lstStyle/>
          <a:p>
            <a:pPr indent="0" marL="0">
              <a:buNone/>
            </a:pPr>
            <a:r>
              <a:rPr lang="en-US" sz="1100" dirty="0">
                <a:solidFill>
                  <a:srgbClr val="838E96"/>
                </a:solidFill>
                <a:latin typeface="Courier New" pitchFamily="34" charset="0"/>
                <a:ea typeface="Courier New" pitchFamily="34" charset="-122"/>
                <a:cs typeface="Courier New" pitchFamily="34" charset="-120"/>
              </a:rPr>
              <a:t>ragnarok/ system architecture</a:t>
            </a:r>
            <a:endParaRPr lang="en-US" sz="1100" dirty="0"/>
          </a:p>
        </p:txBody>
      </p:sp>
      <p:sp>
        <p:nvSpPr>
          <p:cNvPr id="4" name="Shape 2"/>
          <p:cNvSpPr/>
          <p:nvPr/>
        </p:nvSpPr>
        <p:spPr>
          <a:xfrm>
            <a:off x="548640" y="1024128"/>
            <a:ext cx="11094415" cy="0"/>
          </a:xfrm>
          <a:prstGeom prst="line">
            <a:avLst/>
          </a:prstGeom>
          <a:noFill/>
          <a:ln w="9525">
            <a:solidFill>
              <a:srgbClr val="1D2427"/>
            </a:solidFill>
            <a:prstDash val="solid"/>
          </a:ln>
        </p:spPr>
      </p:sp>
      <p:sp>
        <p:nvSpPr>
          <p:cNvPr id="5" name="Shape 3"/>
          <p:cNvSpPr/>
          <p:nvPr/>
        </p:nvSpPr>
        <p:spPr>
          <a:xfrm>
            <a:off x="4907128" y="1170432"/>
            <a:ext cx="2377440" cy="402336"/>
          </a:xfrm>
          <a:prstGeom prst="rect">
            <a:avLst/>
          </a:prstGeom>
          <a:solidFill>
            <a:srgbClr val="0D1214"/>
          </a:solidFill>
          <a:ln w="12700">
            <a:solidFill>
              <a:srgbClr val="2A3236"/>
            </a:solidFill>
            <a:prstDash val="solid"/>
          </a:ln>
        </p:spPr>
      </p:sp>
      <p:sp>
        <p:nvSpPr>
          <p:cNvPr id="6" name="Text 4"/>
          <p:cNvSpPr/>
          <p:nvPr/>
        </p:nvSpPr>
        <p:spPr>
          <a:xfrm>
            <a:off x="4907128" y="1170432"/>
            <a:ext cx="2377440" cy="402336"/>
          </a:xfrm>
          <a:prstGeom prst="rect">
            <a:avLst/>
          </a:prstGeom>
          <a:noFill/>
          <a:ln/>
        </p:spPr>
        <p:txBody>
          <a:bodyPr wrap="square" lIns="0" tIns="0" rIns="0" bIns="0" rtlCol="0" anchor="ctr"/>
          <a:lstStyle/>
          <a:p>
            <a:pPr algn="ctr" indent="0" marL="0">
              <a:buNone/>
            </a:pPr>
            <a:r>
              <a:rPr lang="en-US" sz="1250" b="1" dirty="0">
                <a:solidFill>
                  <a:srgbClr val="3FE0E8"/>
                </a:solidFill>
                <a:latin typeface="Courier New" pitchFamily="34" charset="0"/>
                <a:ea typeface="Courier New" pitchFamily="34" charset="-122"/>
                <a:cs typeface="Courier New" pitchFamily="34" charset="-120"/>
              </a:rPr>
              <a:t>USER QUERY</a:t>
            </a:r>
            <a:endParaRPr lang="en-US" sz="1250" dirty="0"/>
          </a:p>
        </p:txBody>
      </p:sp>
      <p:sp>
        <p:nvSpPr>
          <p:cNvPr id="7" name="Shape 5"/>
          <p:cNvSpPr/>
          <p:nvPr/>
        </p:nvSpPr>
        <p:spPr>
          <a:xfrm>
            <a:off x="6095848" y="1572768"/>
            <a:ext cx="0" cy="182880"/>
          </a:xfrm>
          <a:prstGeom prst="line">
            <a:avLst/>
          </a:prstGeom>
          <a:noFill/>
          <a:ln w="12700">
            <a:solidFill>
              <a:srgbClr val="838E96"/>
            </a:solidFill>
            <a:prstDash val="solid"/>
            <a:tailEnd type="triangle"/>
          </a:ln>
        </p:spPr>
      </p:sp>
      <p:sp>
        <p:nvSpPr>
          <p:cNvPr id="8" name="Shape 6"/>
          <p:cNvSpPr/>
          <p:nvPr/>
        </p:nvSpPr>
        <p:spPr>
          <a:xfrm>
            <a:off x="4724248" y="1755648"/>
            <a:ext cx="2743200" cy="402336"/>
          </a:xfrm>
          <a:prstGeom prst="rect">
            <a:avLst/>
          </a:prstGeom>
          <a:solidFill>
            <a:srgbClr val="161C1F"/>
          </a:solidFill>
          <a:ln w="12700">
            <a:solidFill>
              <a:srgbClr val="3FE0E8"/>
            </a:solidFill>
            <a:prstDash val="solid"/>
          </a:ln>
        </p:spPr>
      </p:sp>
      <p:sp>
        <p:nvSpPr>
          <p:cNvPr id="9" name="Text 7"/>
          <p:cNvSpPr/>
          <p:nvPr/>
        </p:nvSpPr>
        <p:spPr>
          <a:xfrm>
            <a:off x="4724248" y="1755648"/>
            <a:ext cx="2743200" cy="402336"/>
          </a:xfrm>
          <a:prstGeom prst="rect">
            <a:avLst/>
          </a:prstGeom>
          <a:noFill/>
          <a:ln/>
        </p:spPr>
        <p:txBody>
          <a:bodyPr wrap="square" lIns="0" tIns="0" rIns="0" bIns="0" rtlCol="0" anchor="ctr"/>
          <a:lstStyle/>
          <a:p>
            <a:pPr algn="ctr" indent="0" marL="0">
              <a:buNone/>
            </a:pPr>
            <a:r>
              <a:rPr lang="en-US" sz="1150" b="1" dirty="0">
                <a:solidFill>
                  <a:srgbClr val="EDEFF1"/>
                </a:solidFill>
                <a:latin typeface="Courier New" pitchFamily="34" charset="0"/>
                <a:ea typeface="Courier New" pitchFamily="34" charset="-122"/>
                <a:cs typeface="Courier New" pitchFamily="34" charset="-120"/>
              </a:rPr>
              <a:t>TutorEngine</a:t>
            </a:r>
            <a:endParaRPr lang="en-US" sz="1150" dirty="0"/>
          </a:p>
        </p:txBody>
      </p:sp>
      <p:sp>
        <p:nvSpPr>
          <p:cNvPr id="10" name="Shape 8"/>
          <p:cNvSpPr/>
          <p:nvPr/>
        </p:nvSpPr>
        <p:spPr>
          <a:xfrm>
            <a:off x="6095848" y="2157984"/>
            <a:ext cx="0" cy="182880"/>
          </a:xfrm>
          <a:prstGeom prst="line">
            <a:avLst/>
          </a:prstGeom>
          <a:noFill/>
          <a:ln w="12700">
            <a:solidFill>
              <a:srgbClr val="838E96"/>
            </a:solidFill>
            <a:prstDash val="solid"/>
            <a:tailEnd type="triangle"/>
          </a:ln>
        </p:spPr>
      </p:sp>
      <p:sp>
        <p:nvSpPr>
          <p:cNvPr id="11" name="Shape 9"/>
          <p:cNvSpPr/>
          <p:nvPr/>
        </p:nvSpPr>
        <p:spPr>
          <a:xfrm>
            <a:off x="3352648" y="2340864"/>
            <a:ext cx="2743200" cy="0"/>
          </a:xfrm>
          <a:prstGeom prst="line">
            <a:avLst/>
          </a:prstGeom>
          <a:noFill/>
          <a:ln w="12700">
            <a:solidFill>
              <a:srgbClr val="838E96"/>
            </a:solidFill>
            <a:prstDash val="solid"/>
            <a:tailEnd type="triangle"/>
          </a:ln>
        </p:spPr>
      </p:sp>
      <p:sp>
        <p:nvSpPr>
          <p:cNvPr id="12" name="Shape 10"/>
          <p:cNvSpPr/>
          <p:nvPr/>
        </p:nvSpPr>
        <p:spPr>
          <a:xfrm>
            <a:off x="6095848" y="2340864"/>
            <a:ext cx="2743200" cy="0"/>
          </a:xfrm>
          <a:prstGeom prst="line">
            <a:avLst/>
          </a:prstGeom>
          <a:noFill/>
          <a:ln w="12700">
            <a:solidFill>
              <a:srgbClr val="838E96"/>
            </a:solidFill>
            <a:prstDash val="solid"/>
            <a:tailEnd type="triangle"/>
          </a:ln>
        </p:spPr>
      </p:sp>
      <p:sp>
        <p:nvSpPr>
          <p:cNvPr id="13" name="Shape 11"/>
          <p:cNvSpPr/>
          <p:nvPr/>
        </p:nvSpPr>
        <p:spPr>
          <a:xfrm>
            <a:off x="3352648" y="2340864"/>
            <a:ext cx="0" cy="155448"/>
          </a:xfrm>
          <a:prstGeom prst="line">
            <a:avLst/>
          </a:prstGeom>
          <a:noFill/>
          <a:ln w="12700">
            <a:solidFill>
              <a:srgbClr val="838E96"/>
            </a:solidFill>
            <a:prstDash val="solid"/>
            <a:tailEnd type="triangle"/>
          </a:ln>
        </p:spPr>
      </p:sp>
      <p:sp>
        <p:nvSpPr>
          <p:cNvPr id="14" name="Shape 12"/>
          <p:cNvSpPr/>
          <p:nvPr/>
        </p:nvSpPr>
        <p:spPr>
          <a:xfrm>
            <a:off x="8839048" y="2340864"/>
            <a:ext cx="0" cy="155448"/>
          </a:xfrm>
          <a:prstGeom prst="line">
            <a:avLst/>
          </a:prstGeom>
          <a:noFill/>
          <a:ln w="12700">
            <a:solidFill>
              <a:srgbClr val="838E96"/>
            </a:solidFill>
            <a:prstDash val="solid"/>
            <a:tailEnd type="triangle"/>
          </a:ln>
        </p:spPr>
      </p:sp>
      <p:sp>
        <p:nvSpPr>
          <p:cNvPr id="15" name="Shape 13"/>
          <p:cNvSpPr/>
          <p:nvPr/>
        </p:nvSpPr>
        <p:spPr>
          <a:xfrm>
            <a:off x="2163928" y="2496312"/>
            <a:ext cx="2377440" cy="402336"/>
          </a:xfrm>
          <a:prstGeom prst="rect">
            <a:avLst/>
          </a:prstGeom>
          <a:solidFill>
            <a:srgbClr val="12171A"/>
          </a:solidFill>
          <a:ln w="12700">
            <a:solidFill>
              <a:srgbClr val="2A3236"/>
            </a:solidFill>
            <a:prstDash val="solid"/>
          </a:ln>
        </p:spPr>
      </p:sp>
      <p:sp>
        <p:nvSpPr>
          <p:cNvPr id="16" name="Text 14"/>
          <p:cNvSpPr/>
          <p:nvPr/>
        </p:nvSpPr>
        <p:spPr>
          <a:xfrm>
            <a:off x="2163928" y="2496312"/>
            <a:ext cx="2377440" cy="402336"/>
          </a:xfrm>
          <a:prstGeom prst="rect">
            <a:avLst/>
          </a:prstGeom>
          <a:noFill/>
          <a:ln/>
        </p:spPr>
        <p:txBody>
          <a:bodyPr wrap="square" lIns="0" tIns="0" rIns="0" bIns="0" rtlCol="0" anchor="ctr"/>
          <a:lstStyle/>
          <a:p>
            <a:pPr algn="ctr" indent="0" marL="0">
              <a:buNone/>
            </a:pPr>
            <a:r>
              <a:rPr lang="en-US" sz="1150" dirty="0">
                <a:solidFill>
                  <a:srgbClr val="EDEFF1"/>
                </a:solidFill>
                <a:latin typeface="Courier New" pitchFamily="34" charset="0"/>
                <a:ea typeface="Courier New" pitchFamily="34" charset="-122"/>
                <a:cs typeface="Courier New" pitchFamily="34" charset="-120"/>
              </a:rPr>
              <a:t>GeminiClient</a:t>
            </a:r>
            <a:endParaRPr lang="en-US" sz="1150" dirty="0"/>
          </a:p>
        </p:txBody>
      </p:sp>
      <p:sp>
        <p:nvSpPr>
          <p:cNvPr id="17" name="Shape 15"/>
          <p:cNvSpPr/>
          <p:nvPr/>
        </p:nvSpPr>
        <p:spPr>
          <a:xfrm>
            <a:off x="7650328" y="2496312"/>
            <a:ext cx="2377440" cy="402336"/>
          </a:xfrm>
          <a:prstGeom prst="rect">
            <a:avLst/>
          </a:prstGeom>
          <a:solidFill>
            <a:srgbClr val="12171A"/>
          </a:solidFill>
          <a:ln w="12700">
            <a:solidFill>
              <a:srgbClr val="2A3236"/>
            </a:solidFill>
            <a:prstDash val="solid"/>
          </a:ln>
        </p:spPr>
      </p:sp>
      <p:sp>
        <p:nvSpPr>
          <p:cNvPr id="18" name="Text 16"/>
          <p:cNvSpPr/>
          <p:nvPr/>
        </p:nvSpPr>
        <p:spPr>
          <a:xfrm>
            <a:off x="7650328" y="2496312"/>
            <a:ext cx="2377440" cy="402336"/>
          </a:xfrm>
          <a:prstGeom prst="rect">
            <a:avLst/>
          </a:prstGeom>
          <a:noFill/>
          <a:ln/>
        </p:spPr>
        <p:txBody>
          <a:bodyPr wrap="square" lIns="0" tIns="0" rIns="0" bIns="0" rtlCol="0" anchor="ctr"/>
          <a:lstStyle/>
          <a:p>
            <a:pPr algn="ctr" indent="0" marL="0">
              <a:buNone/>
            </a:pPr>
            <a:r>
              <a:rPr lang="en-US" sz="1150" dirty="0">
                <a:solidFill>
                  <a:srgbClr val="EDEFF1"/>
                </a:solidFill>
                <a:latin typeface="Courier New" pitchFamily="34" charset="0"/>
                <a:ea typeface="Courier New" pitchFamily="34" charset="-122"/>
                <a:cs typeface="Courier New" pitchFamily="34" charset="-120"/>
              </a:rPr>
              <a:t>MongoDBClient</a:t>
            </a:r>
            <a:endParaRPr lang="en-US" sz="1150" dirty="0"/>
          </a:p>
        </p:txBody>
      </p:sp>
      <p:sp>
        <p:nvSpPr>
          <p:cNvPr id="19" name="Shape 17"/>
          <p:cNvSpPr/>
          <p:nvPr/>
        </p:nvSpPr>
        <p:spPr>
          <a:xfrm>
            <a:off x="3352648" y="2898648"/>
            <a:ext cx="0" cy="155448"/>
          </a:xfrm>
          <a:prstGeom prst="line">
            <a:avLst/>
          </a:prstGeom>
          <a:noFill/>
          <a:ln w="12700">
            <a:solidFill>
              <a:srgbClr val="838E96"/>
            </a:solidFill>
            <a:prstDash val="solid"/>
            <a:tailEnd type="triangle"/>
          </a:ln>
        </p:spPr>
      </p:sp>
      <p:sp>
        <p:nvSpPr>
          <p:cNvPr id="20" name="Shape 18"/>
          <p:cNvSpPr/>
          <p:nvPr/>
        </p:nvSpPr>
        <p:spPr>
          <a:xfrm>
            <a:off x="8839048" y="2898648"/>
            <a:ext cx="0" cy="155448"/>
          </a:xfrm>
          <a:prstGeom prst="line">
            <a:avLst/>
          </a:prstGeom>
          <a:noFill/>
          <a:ln w="12700">
            <a:solidFill>
              <a:srgbClr val="838E96"/>
            </a:solidFill>
            <a:prstDash val="solid"/>
            <a:tailEnd type="triangle"/>
          </a:ln>
        </p:spPr>
      </p:sp>
      <p:sp>
        <p:nvSpPr>
          <p:cNvPr id="21" name="Shape 19"/>
          <p:cNvSpPr/>
          <p:nvPr/>
        </p:nvSpPr>
        <p:spPr>
          <a:xfrm>
            <a:off x="2163928" y="3054096"/>
            <a:ext cx="2377440" cy="402336"/>
          </a:xfrm>
          <a:prstGeom prst="rect">
            <a:avLst/>
          </a:prstGeom>
          <a:solidFill>
            <a:srgbClr val="0D1214"/>
          </a:solidFill>
          <a:ln w="12700">
            <a:solidFill>
              <a:srgbClr val="2A3236"/>
            </a:solidFill>
            <a:prstDash val="solid"/>
          </a:ln>
        </p:spPr>
      </p:sp>
      <p:sp>
        <p:nvSpPr>
          <p:cNvPr id="22" name="Text 20"/>
          <p:cNvSpPr/>
          <p:nvPr/>
        </p:nvSpPr>
        <p:spPr>
          <a:xfrm>
            <a:off x="2163928" y="3054096"/>
            <a:ext cx="2377440" cy="402336"/>
          </a:xfrm>
          <a:prstGeom prst="rect">
            <a:avLst/>
          </a:prstGeom>
          <a:noFill/>
          <a:ln/>
        </p:spPr>
        <p:txBody>
          <a:bodyPr wrap="square" lIns="0" tIns="0" rIns="0" bIns="0" rtlCol="0" anchor="ctr"/>
          <a:lstStyle/>
          <a:p>
            <a:pPr algn="ctr" indent="0" marL="0">
              <a:buNone/>
            </a:pPr>
            <a:r>
              <a:rPr lang="en-US" sz="1100" dirty="0">
                <a:solidFill>
                  <a:srgbClr val="3FE0E8"/>
                </a:solidFill>
                <a:latin typeface="Courier New" pitchFamily="34" charset="0"/>
                <a:ea typeface="Courier New" pitchFamily="34" charset="-122"/>
                <a:cs typeface="Courier New" pitchFamily="34" charset="-120"/>
              </a:rPr>
              <a:t>Gemini API</a:t>
            </a:r>
            <a:endParaRPr lang="en-US" sz="1100" dirty="0"/>
          </a:p>
        </p:txBody>
      </p:sp>
      <p:sp>
        <p:nvSpPr>
          <p:cNvPr id="23" name="Shape 21"/>
          <p:cNvSpPr/>
          <p:nvPr/>
        </p:nvSpPr>
        <p:spPr>
          <a:xfrm>
            <a:off x="7650328" y="3054096"/>
            <a:ext cx="2377440" cy="402336"/>
          </a:xfrm>
          <a:prstGeom prst="rect">
            <a:avLst/>
          </a:prstGeom>
          <a:solidFill>
            <a:srgbClr val="0D1214"/>
          </a:solidFill>
          <a:ln w="12700">
            <a:solidFill>
              <a:srgbClr val="2A3236"/>
            </a:solidFill>
            <a:prstDash val="solid"/>
          </a:ln>
        </p:spPr>
      </p:sp>
      <p:sp>
        <p:nvSpPr>
          <p:cNvPr id="24" name="Text 22"/>
          <p:cNvSpPr/>
          <p:nvPr/>
        </p:nvSpPr>
        <p:spPr>
          <a:xfrm>
            <a:off x="7650328" y="3054096"/>
            <a:ext cx="2377440" cy="402336"/>
          </a:xfrm>
          <a:prstGeom prst="rect">
            <a:avLst/>
          </a:prstGeom>
          <a:noFill/>
          <a:ln/>
        </p:spPr>
        <p:txBody>
          <a:bodyPr wrap="square" lIns="0" tIns="0" rIns="0" bIns="0" rtlCol="0" anchor="ctr"/>
          <a:lstStyle/>
          <a:p>
            <a:pPr algn="ctr" indent="0" marL="0">
              <a:buNone/>
            </a:pPr>
            <a:r>
              <a:rPr lang="en-US" sz="1100" dirty="0">
                <a:solidFill>
                  <a:srgbClr val="3FE0E8"/>
                </a:solidFill>
                <a:latin typeface="Courier New" pitchFamily="34" charset="0"/>
                <a:ea typeface="Courier New" pitchFamily="34" charset="-122"/>
                <a:cs typeface="Courier New" pitchFamily="34" charset="-120"/>
              </a:rPr>
              <a:t>MongoDB Atlas</a:t>
            </a:r>
            <a:endParaRPr lang="en-US" sz="1100" dirty="0"/>
          </a:p>
        </p:txBody>
      </p:sp>
      <p:sp>
        <p:nvSpPr>
          <p:cNvPr id="25" name="Shape 23"/>
          <p:cNvSpPr/>
          <p:nvPr/>
        </p:nvSpPr>
        <p:spPr>
          <a:xfrm>
            <a:off x="8839048" y="3456432"/>
            <a:ext cx="0" cy="155448"/>
          </a:xfrm>
          <a:prstGeom prst="line">
            <a:avLst/>
          </a:prstGeom>
          <a:noFill/>
          <a:ln w="12700">
            <a:solidFill>
              <a:srgbClr val="838E96"/>
            </a:solidFill>
            <a:prstDash val="solid"/>
            <a:tailEnd type="triangle"/>
          </a:ln>
        </p:spPr>
      </p:sp>
      <p:sp>
        <p:nvSpPr>
          <p:cNvPr id="26" name="Shape 24"/>
          <p:cNvSpPr/>
          <p:nvPr/>
        </p:nvSpPr>
        <p:spPr>
          <a:xfrm>
            <a:off x="7650328" y="3611880"/>
            <a:ext cx="2377440" cy="402336"/>
          </a:xfrm>
          <a:prstGeom prst="rect">
            <a:avLst/>
          </a:prstGeom>
          <a:solidFill>
            <a:srgbClr val="161C1F"/>
          </a:solidFill>
          <a:ln w="12700">
            <a:solidFill>
              <a:srgbClr val="2A3236"/>
            </a:solidFill>
            <a:prstDash val="solid"/>
          </a:ln>
        </p:spPr>
      </p:sp>
      <p:sp>
        <p:nvSpPr>
          <p:cNvPr id="27" name="Text 25"/>
          <p:cNvSpPr/>
          <p:nvPr/>
        </p:nvSpPr>
        <p:spPr>
          <a:xfrm>
            <a:off x="7650328" y="3611880"/>
            <a:ext cx="2377440" cy="402336"/>
          </a:xfrm>
          <a:prstGeom prst="rect">
            <a:avLst/>
          </a:prstGeom>
          <a:noFill/>
          <a:ln/>
        </p:spPr>
        <p:txBody>
          <a:bodyPr wrap="square" lIns="0" tIns="0" rIns="0" bIns="0" rtlCol="0" anchor="ctr"/>
          <a:lstStyle/>
          <a:p>
            <a:pPr algn="ctr" indent="0" marL="0">
              <a:buNone/>
            </a:pPr>
            <a:r>
              <a:rPr lang="en-US" sz="1050" dirty="0">
                <a:solidFill>
                  <a:srgbClr val="EDEFF1"/>
                </a:solidFill>
                <a:latin typeface="Courier New" pitchFamily="34" charset="0"/>
                <a:ea typeface="Courier New" pitchFamily="34" charset="-122"/>
                <a:cs typeface="Courier New" pitchFamily="34" charset="-120"/>
              </a:rPr>
              <a:t>$vectorSearch</a:t>
            </a:r>
            <a:endParaRPr lang="en-US" sz="1050" dirty="0"/>
          </a:p>
        </p:txBody>
      </p:sp>
      <p:sp>
        <p:nvSpPr>
          <p:cNvPr id="28" name="Shape 26"/>
          <p:cNvSpPr/>
          <p:nvPr/>
        </p:nvSpPr>
        <p:spPr>
          <a:xfrm>
            <a:off x="8839048" y="4014216"/>
            <a:ext cx="0" cy="155448"/>
          </a:xfrm>
          <a:prstGeom prst="line">
            <a:avLst/>
          </a:prstGeom>
          <a:noFill/>
          <a:ln w="12700">
            <a:solidFill>
              <a:srgbClr val="838E96"/>
            </a:solidFill>
            <a:prstDash val="solid"/>
            <a:tailEnd type="triangle"/>
          </a:ln>
        </p:spPr>
      </p:sp>
      <p:sp>
        <p:nvSpPr>
          <p:cNvPr id="29" name="Shape 27"/>
          <p:cNvSpPr/>
          <p:nvPr/>
        </p:nvSpPr>
        <p:spPr>
          <a:xfrm>
            <a:off x="7650328" y="4169664"/>
            <a:ext cx="2377440" cy="402336"/>
          </a:xfrm>
          <a:prstGeom prst="rect">
            <a:avLst/>
          </a:prstGeom>
          <a:solidFill>
            <a:srgbClr val="12171A"/>
          </a:solidFill>
          <a:ln w="12700">
            <a:solidFill>
              <a:srgbClr val="2A3236"/>
            </a:solidFill>
            <a:prstDash val="solid"/>
          </a:ln>
        </p:spPr>
      </p:sp>
      <p:sp>
        <p:nvSpPr>
          <p:cNvPr id="30" name="Text 28"/>
          <p:cNvSpPr/>
          <p:nvPr/>
        </p:nvSpPr>
        <p:spPr>
          <a:xfrm>
            <a:off x="7650328" y="4169664"/>
            <a:ext cx="2377440" cy="402336"/>
          </a:xfrm>
          <a:prstGeom prst="rect">
            <a:avLst/>
          </a:prstGeom>
          <a:noFill/>
          <a:ln/>
        </p:spPr>
        <p:txBody>
          <a:bodyPr wrap="square" lIns="0" tIns="0" rIns="0" bIns="0" rtlCol="0" anchor="ctr"/>
          <a:lstStyle/>
          <a:p>
            <a:pPr algn="ctr" indent="0" marL="0">
              <a:buNone/>
            </a:pPr>
            <a:r>
              <a:rPr lang="en-US" sz="1050" dirty="0">
                <a:solidFill>
                  <a:srgbClr val="838E96"/>
                </a:solidFill>
                <a:latin typeface="Courier New" pitchFamily="34" charset="0"/>
                <a:ea typeface="Courier New" pitchFamily="34" charset="-122"/>
                <a:cs typeface="Courier New" pitchFamily="34" charset="-120"/>
              </a:rPr>
              <a:t>Top-K chunks</a:t>
            </a:r>
            <a:endParaRPr lang="en-US" sz="1050" dirty="0"/>
          </a:p>
        </p:txBody>
      </p:sp>
      <p:sp>
        <p:nvSpPr>
          <p:cNvPr id="31" name="Shape 29"/>
          <p:cNvSpPr/>
          <p:nvPr/>
        </p:nvSpPr>
        <p:spPr>
          <a:xfrm>
            <a:off x="3352648" y="3456432"/>
            <a:ext cx="0" cy="1152144"/>
          </a:xfrm>
          <a:prstGeom prst="line">
            <a:avLst/>
          </a:prstGeom>
          <a:noFill/>
          <a:ln w="12700">
            <a:solidFill>
              <a:srgbClr val="838E96"/>
            </a:solidFill>
            <a:prstDash val="solid"/>
            <a:tailEnd type="triangle"/>
          </a:ln>
        </p:spPr>
      </p:sp>
      <p:sp>
        <p:nvSpPr>
          <p:cNvPr id="32" name="Shape 30"/>
          <p:cNvSpPr/>
          <p:nvPr/>
        </p:nvSpPr>
        <p:spPr>
          <a:xfrm>
            <a:off x="8839048" y="4572000"/>
            <a:ext cx="0" cy="36576"/>
          </a:xfrm>
          <a:prstGeom prst="line">
            <a:avLst/>
          </a:prstGeom>
          <a:noFill/>
          <a:ln w="12700">
            <a:solidFill>
              <a:srgbClr val="838E96"/>
            </a:solidFill>
            <a:prstDash val="solid"/>
            <a:tailEnd type="triangle"/>
          </a:ln>
        </p:spPr>
      </p:sp>
      <p:sp>
        <p:nvSpPr>
          <p:cNvPr id="33" name="Shape 31"/>
          <p:cNvSpPr/>
          <p:nvPr/>
        </p:nvSpPr>
        <p:spPr>
          <a:xfrm>
            <a:off x="3352648" y="4608576"/>
            <a:ext cx="2743200" cy="0"/>
          </a:xfrm>
          <a:prstGeom prst="line">
            <a:avLst/>
          </a:prstGeom>
          <a:noFill/>
          <a:ln w="12700">
            <a:solidFill>
              <a:srgbClr val="838E96"/>
            </a:solidFill>
            <a:prstDash val="solid"/>
            <a:tailEnd type="triangle"/>
          </a:ln>
        </p:spPr>
      </p:sp>
      <p:sp>
        <p:nvSpPr>
          <p:cNvPr id="34" name="Shape 32"/>
          <p:cNvSpPr/>
          <p:nvPr/>
        </p:nvSpPr>
        <p:spPr>
          <a:xfrm>
            <a:off x="6095848" y="4608576"/>
            <a:ext cx="2743200" cy="0"/>
          </a:xfrm>
          <a:prstGeom prst="line">
            <a:avLst/>
          </a:prstGeom>
          <a:noFill/>
          <a:ln w="12700">
            <a:solidFill>
              <a:srgbClr val="838E96"/>
            </a:solidFill>
            <a:prstDash val="solid"/>
            <a:tailEnd type="triangle"/>
          </a:ln>
        </p:spPr>
      </p:sp>
      <p:sp>
        <p:nvSpPr>
          <p:cNvPr id="35" name="Shape 33"/>
          <p:cNvSpPr/>
          <p:nvPr/>
        </p:nvSpPr>
        <p:spPr>
          <a:xfrm>
            <a:off x="6095848" y="4608576"/>
            <a:ext cx="0" cy="128016"/>
          </a:xfrm>
          <a:prstGeom prst="line">
            <a:avLst/>
          </a:prstGeom>
          <a:noFill/>
          <a:ln w="12700">
            <a:solidFill>
              <a:srgbClr val="838E96"/>
            </a:solidFill>
            <a:prstDash val="solid"/>
            <a:tailEnd type="triangle"/>
          </a:ln>
        </p:spPr>
      </p:sp>
      <p:sp>
        <p:nvSpPr>
          <p:cNvPr id="36" name="Shape 34"/>
          <p:cNvSpPr/>
          <p:nvPr/>
        </p:nvSpPr>
        <p:spPr>
          <a:xfrm>
            <a:off x="4724248" y="4736592"/>
            <a:ext cx="2743200" cy="402336"/>
          </a:xfrm>
          <a:prstGeom prst="rect">
            <a:avLst/>
          </a:prstGeom>
          <a:solidFill>
            <a:srgbClr val="161C1F"/>
          </a:solidFill>
          <a:ln w="12700">
            <a:solidFill>
              <a:srgbClr val="2A3236"/>
            </a:solidFill>
            <a:prstDash val="solid"/>
          </a:ln>
        </p:spPr>
      </p:sp>
      <p:sp>
        <p:nvSpPr>
          <p:cNvPr id="37" name="Text 35"/>
          <p:cNvSpPr/>
          <p:nvPr/>
        </p:nvSpPr>
        <p:spPr>
          <a:xfrm>
            <a:off x="4724248" y="4736592"/>
            <a:ext cx="2743200" cy="402336"/>
          </a:xfrm>
          <a:prstGeom prst="rect">
            <a:avLst/>
          </a:prstGeom>
          <a:noFill/>
          <a:ln/>
        </p:spPr>
        <p:txBody>
          <a:bodyPr wrap="square" lIns="0" tIns="0" rIns="0" bIns="0" rtlCol="0" anchor="ctr"/>
          <a:lstStyle/>
          <a:p>
            <a:pPr algn="ctr" indent="0" marL="0">
              <a:buNone/>
            </a:pPr>
            <a:r>
              <a:rPr lang="en-US" sz="1150" dirty="0">
                <a:solidFill>
                  <a:srgbClr val="EDEFF1"/>
                </a:solidFill>
                <a:latin typeface="Courier New" pitchFamily="34" charset="0"/>
                <a:ea typeface="Courier New" pitchFamily="34" charset="-122"/>
                <a:cs typeface="Courier New" pitchFamily="34" charset="-120"/>
              </a:rPr>
              <a:t>Context assembly</a:t>
            </a:r>
            <a:endParaRPr lang="en-US" sz="1150" dirty="0"/>
          </a:p>
        </p:txBody>
      </p:sp>
      <p:sp>
        <p:nvSpPr>
          <p:cNvPr id="38" name="Shape 36"/>
          <p:cNvSpPr/>
          <p:nvPr/>
        </p:nvSpPr>
        <p:spPr>
          <a:xfrm>
            <a:off x="6095848" y="5138928"/>
            <a:ext cx="0" cy="155448"/>
          </a:xfrm>
          <a:prstGeom prst="line">
            <a:avLst/>
          </a:prstGeom>
          <a:noFill/>
          <a:ln w="12700">
            <a:solidFill>
              <a:srgbClr val="838E96"/>
            </a:solidFill>
            <a:prstDash val="solid"/>
            <a:tailEnd type="triangle"/>
          </a:ln>
        </p:spPr>
      </p:sp>
      <p:sp>
        <p:nvSpPr>
          <p:cNvPr id="39" name="Shape 37"/>
          <p:cNvSpPr/>
          <p:nvPr/>
        </p:nvSpPr>
        <p:spPr>
          <a:xfrm>
            <a:off x="4724248" y="5294376"/>
            <a:ext cx="2743200" cy="402336"/>
          </a:xfrm>
          <a:prstGeom prst="rect">
            <a:avLst/>
          </a:prstGeom>
          <a:solidFill>
            <a:srgbClr val="161C1F"/>
          </a:solidFill>
          <a:ln w="12700">
            <a:solidFill>
              <a:srgbClr val="2A3236"/>
            </a:solidFill>
            <a:prstDash val="solid"/>
          </a:ln>
        </p:spPr>
      </p:sp>
      <p:sp>
        <p:nvSpPr>
          <p:cNvPr id="40" name="Text 38"/>
          <p:cNvSpPr/>
          <p:nvPr/>
        </p:nvSpPr>
        <p:spPr>
          <a:xfrm>
            <a:off x="4724248" y="5294376"/>
            <a:ext cx="2743200" cy="402336"/>
          </a:xfrm>
          <a:prstGeom prst="rect">
            <a:avLst/>
          </a:prstGeom>
          <a:noFill/>
          <a:ln/>
        </p:spPr>
        <p:txBody>
          <a:bodyPr wrap="square" lIns="0" tIns="0" rIns="0" bIns="0" rtlCol="0" anchor="ctr"/>
          <a:lstStyle/>
          <a:p>
            <a:pPr algn="ctr" indent="0" marL="0">
              <a:buNone/>
            </a:pPr>
            <a:r>
              <a:rPr lang="en-US" sz="1150" dirty="0">
                <a:solidFill>
                  <a:srgbClr val="EDEFF1"/>
                </a:solidFill>
                <a:latin typeface="Courier New" pitchFamily="34" charset="0"/>
                <a:ea typeface="Courier New" pitchFamily="34" charset="-122"/>
                <a:cs typeface="Courier New" pitchFamily="34" charset="-120"/>
              </a:rPr>
              <a:t>Gemini generation</a:t>
            </a:r>
            <a:endParaRPr lang="en-US" sz="1150" dirty="0"/>
          </a:p>
        </p:txBody>
      </p:sp>
      <p:sp>
        <p:nvSpPr>
          <p:cNvPr id="41" name="Shape 39"/>
          <p:cNvSpPr/>
          <p:nvPr/>
        </p:nvSpPr>
        <p:spPr>
          <a:xfrm>
            <a:off x="6095848" y="5696712"/>
            <a:ext cx="0" cy="155448"/>
          </a:xfrm>
          <a:prstGeom prst="line">
            <a:avLst/>
          </a:prstGeom>
          <a:noFill/>
          <a:ln w="12700">
            <a:solidFill>
              <a:srgbClr val="838E96"/>
            </a:solidFill>
            <a:prstDash val="solid"/>
            <a:tailEnd type="triangle"/>
          </a:ln>
        </p:spPr>
      </p:sp>
      <p:sp>
        <p:nvSpPr>
          <p:cNvPr id="42" name="Shape 40"/>
          <p:cNvSpPr/>
          <p:nvPr/>
        </p:nvSpPr>
        <p:spPr>
          <a:xfrm>
            <a:off x="4541368" y="5852160"/>
            <a:ext cx="3108960" cy="420624"/>
          </a:xfrm>
          <a:prstGeom prst="rect">
            <a:avLst/>
          </a:prstGeom>
          <a:solidFill>
            <a:srgbClr val="0D1214"/>
          </a:solidFill>
          <a:ln w="12700">
            <a:solidFill>
              <a:srgbClr val="3FE0E8"/>
            </a:solidFill>
            <a:prstDash val="solid"/>
          </a:ln>
        </p:spPr>
      </p:sp>
      <p:sp>
        <p:nvSpPr>
          <p:cNvPr id="43" name="Text 41"/>
          <p:cNvSpPr/>
          <p:nvPr/>
        </p:nvSpPr>
        <p:spPr>
          <a:xfrm>
            <a:off x="4541368" y="5852160"/>
            <a:ext cx="3108960" cy="420624"/>
          </a:xfrm>
          <a:prstGeom prst="rect">
            <a:avLst/>
          </a:prstGeom>
          <a:noFill/>
          <a:ln/>
        </p:spPr>
        <p:txBody>
          <a:bodyPr wrap="square" lIns="0" tIns="0" rIns="0" bIns="0" rtlCol="0" anchor="ctr"/>
          <a:lstStyle/>
          <a:p>
            <a:pPr algn="ctr" indent="0" marL="0">
              <a:buNone/>
            </a:pPr>
            <a:r>
              <a:rPr lang="en-US" sz="1250" b="1" dirty="0">
                <a:solidFill>
                  <a:srgbClr val="3FE0E8"/>
                </a:solidFill>
                <a:latin typeface="Courier New" pitchFamily="34" charset="0"/>
                <a:ea typeface="Courier New" pitchFamily="34" charset="-122"/>
                <a:cs typeface="Courier New" pitchFamily="34" charset="-120"/>
              </a:rPr>
              <a:t>GROUNDED RESPONSE</a:t>
            </a:r>
            <a:endParaRPr lang="en-US" sz="1250" dirty="0"/>
          </a:p>
        </p:txBody>
      </p:sp>
      <p:sp>
        <p:nvSpPr>
          <p:cNvPr id="44" name="Text 42"/>
          <p:cNvSpPr/>
          <p:nvPr/>
        </p:nvSpPr>
        <p:spPr>
          <a:xfrm>
            <a:off x="548640" y="6492240"/>
            <a:ext cx="4572000" cy="228600"/>
          </a:xfrm>
          <a:prstGeom prst="rect">
            <a:avLst/>
          </a:prstGeom>
          <a:noFill/>
          <a:ln/>
        </p:spPr>
        <p:txBody>
          <a:bodyPr wrap="square" lIns="0" tIns="0" rIns="0" bIns="0" rtlCol="0" anchor="ctr"/>
          <a:lstStyle/>
          <a:p>
            <a:pPr algn="l" indent="0" marL="0">
              <a:buNone/>
            </a:pPr>
            <a:r>
              <a:rPr lang="en-US" sz="900" spc="50" kern="0" dirty="0">
                <a:solidFill>
                  <a:srgbClr val="5A646A"/>
                </a:solidFill>
                <a:latin typeface="Courier New" pitchFamily="34" charset="0"/>
                <a:ea typeface="Courier New" pitchFamily="34" charset="-122"/>
                <a:cs typeface="Courier New" pitchFamily="34" charset="-120"/>
              </a:rPr>
              <a:t>PROJECT FACT — actual RAGnarok class structure</a:t>
            </a:r>
            <a:endParaRPr lang="en-US" sz="900" dirty="0"/>
          </a:p>
        </p:txBody>
      </p:sp>
      <p:sp>
        <p:nvSpPr>
          <p:cNvPr id="45" name="Text 43"/>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548640" y="411480"/>
            <a:ext cx="3657600" cy="274320"/>
          </a:xfrm>
          <a:prstGeom prst="rect">
            <a:avLst/>
          </a:prstGeom>
          <a:noFill/>
          <a:ln/>
        </p:spPr>
        <p:txBody>
          <a:bodyPr wrap="square" lIns="0" tIns="0" rIns="0" bIns="0" rtlCol="0" anchor="ctr"/>
          <a:lstStyle/>
          <a:p>
            <a:pPr algn="l" indent="0" marL="0">
              <a:buNone/>
            </a:pPr>
            <a:r>
              <a:rPr lang="en-US" sz="1100" spc="200" kern="0" dirty="0">
                <a:solidFill>
                  <a:srgbClr val="3FE0E8"/>
                </a:solidFill>
                <a:latin typeface="Courier New" pitchFamily="34" charset="0"/>
                <a:ea typeface="Courier New" pitchFamily="34" charset="-122"/>
                <a:cs typeface="Courier New" pitchFamily="34" charset="-120"/>
              </a:rPr>
              <a:t>04 — ONE REQUEST</a:t>
            </a:r>
            <a:endParaRPr lang="en-US" sz="1100" dirty="0"/>
          </a:p>
        </p:txBody>
      </p:sp>
      <p:sp>
        <p:nvSpPr>
          <p:cNvPr id="3" name="Text 1"/>
          <p:cNvSpPr/>
          <p:nvPr/>
        </p:nvSpPr>
        <p:spPr>
          <a:xfrm>
            <a:off x="548640" y="658368"/>
            <a:ext cx="7315200" cy="320040"/>
          </a:xfrm>
          <a:prstGeom prst="rect">
            <a:avLst/>
          </a:prstGeom>
          <a:noFill/>
          <a:ln/>
        </p:spPr>
        <p:txBody>
          <a:bodyPr wrap="square" lIns="0" tIns="0" rIns="0" bIns="0" rtlCol="0" anchor="ctr"/>
          <a:lstStyle/>
          <a:p>
            <a:pPr indent="0" marL="0">
              <a:buNone/>
            </a:pPr>
            <a:r>
              <a:rPr lang="en-US" sz="1100" dirty="0">
                <a:solidFill>
                  <a:srgbClr val="838E96"/>
                </a:solidFill>
                <a:latin typeface="Courier New" pitchFamily="34" charset="0"/>
                <a:ea typeface="Courier New" pitchFamily="34" charset="-122"/>
                <a:cs typeface="Courier New" pitchFamily="34" charset="-120"/>
              </a:rPr>
              <a:t>end-to-end query flow</a:t>
            </a:r>
            <a:endParaRPr lang="en-US" sz="1100" dirty="0"/>
          </a:p>
        </p:txBody>
      </p:sp>
      <p:sp>
        <p:nvSpPr>
          <p:cNvPr id="4" name="Shape 2"/>
          <p:cNvSpPr/>
          <p:nvPr/>
        </p:nvSpPr>
        <p:spPr>
          <a:xfrm>
            <a:off x="548640" y="1024128"/>
            <a:ext cx="11094415" cy="0"/>
          </a:xfrm>
          <a:prstGeom prst="line">
            <a:avLst/>
          </a:prstGeom>
          <a:noFill/>
          <a:ln w="9525">
            <a:solidFill>
              <a:srgbClr val="1D2427"/>
            </a:solidFill>
            <a:prstDash val="solid"/>
          </a:ln>
        </p:spPr>
      </p:sp>
      <p:sp>
        <p:nvSpPr>
          <p:cNvPr id="5" name="Shape 3"/>
          <p:cNvSpPr/>
          <p:nvPr/>
        </p:nvSpPr>
        <p:spPr>
          <a:xfrm>
            <a:off x="3246120" y="1280160"/>
            <a:ext cx="4206240" cy="457200"/>
          </a:xfrm>
          <a:prstGeom prst="rect">
            <a:avLst/>
          </a:prstGeom>
          <a:solidFill>
            <a:srgbClr val="0D1214"/>
          </a:solidFill>
          <a:ln w="15875">
            <a:solidFill>
              <a:srgbClr val="3FE0E8"/>
            </a:solidFill>
            <a:prstDash val="solid"/>
          </a:ln>
        </p:spPr>
      </p:sp>
      <p:sp>
        <p:nvSpPr>
          <p:cNvPr id="6" name="Text 4"/>
          <p:cNvSpPr/>
          <p:nvPr/>
        </p:nvSpPr>
        <p:spPr>
          <a:xfrm>
            <a:off x="3246120" y="1280160"/>
            <a:ext cx="4206240" cy="457200"/>
          </a:xfrm>
          <a:prstGeom prst="rect">
            <a:avLst/>
          </a:prstGeom>
          <a:noFill/>
          <a:ln/>
        </p:spPr>
        <p:txBody>
          <a:bodyPr wrap="square" lIns="0" tIns="0" rIns="0" bIns="0" rtlCol="0" anchor="ctr"/>
          <a:lstStyle/>
          <a:p>
            <a:pPr algn="ctr" indent="0" marL="0">
              <a:buNone/>
            </a:pPr>
            <a:r>
              <a:rPr lang="en-US" sz="1300" b="1" dirty="0">
                <a:solidFill>
                  <a:srgbClr val="3FE0E8"/>
                </a:solidFill>
                <a:latin typeface="Courier New" pitchFamily="34" charset="0"/>
                <a:ea typeface="Courier New" pitchFamily="34" charset="-122"/>
                <a:cs typeface="Courier New" pitchFamily="34" charset="-120"/>
              </a:rPr>
              <a:t>USER QUERY</a:t>
            </a:r>
            <a:endParaRPr lang="en-US" sz="1300" dirty="0"/>
          </a:p>
        </p:txBody>
      </p:sp>
      <p:sp>
        <p:nvSpPr>
          <p:cNvPr id="7" name="Shape 5"/>
          <p:cNvSpPr/>
          <p:nvPr/>
        </p:nvSpPr>
        <p:spPr>
          <a:xfrm>
            <a:off x="5349240" y="1737360"/>
            <a:ext cx="0" cy="105156"/>
          </a:xfrm>
          <a:prstGeom prst="line">
            <a:avLst/>
          </a:prstGeom>
          <a:noFill/>
          <a:ln w="12700">
            <a:solidFill>
              <a:srgbClr val="838E96"/>
            </a:solidFill>
            <a:prstDash val="solid"/>
            <a:tailEnd type="triangle"/>
          </a:ln>
        </p:spPr>
      </p:sp>
      <p:sp>
        <p:nvSpPr>
          <p:cNvPr id="8" name="Shape 6"/>
          <p:cNvSpPr/>
          <p:nvPr/>
        </p:nvSpPr>
        <p:spPr>
          <a:xfrm>
            <a:off x="3246120" y="1842516"/>
            <a:ext cx="4206240" cy="457200"/>
          </a:xfrm>
          <a:prstGeom prst="rect">
            <a:avLst/>
          </a:prstGeom>
          <a:solidFill>
            <a:srgbClr val="12171A"/>
          </a:solidFill>
          <a:ln w="12700">
            <a:solidFill>
              <a:srgbClr val="2A3236"/>
            </a:solidFill>
            <a:prstDash val="solid"/>
          </a:ln>
        </p:spPr>
      </p:sp>
      <p:sp>
        <p:nvSpPr>
          <p:cNvPr id="9" name="Text 7"/>
          <p:cNvSpPr/>
          <p:nvPr/>
        </p:nvSpPr>
        <p:spPr>
          <a:xfrm>
            <a:off x="3246120" y="1842516"/>
            <a:ext cx="4206240" cy="4572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embedQuery()</a:t>
            </a:r>
            <a:endParaRPr lang="en-US" sz="1300" dirty="0"/>
          </a:p>
        </p:txBody>
      </p:sp>
      <p:sp>
        <p:nvSpPr>
          <p:cNvPr id="10" name="Shape 8"/>
          <p:cNvSpPr/>
          <p:nvPr/>
        </p:nvSpPr>
        <p:spPr>
          <a:xfrm>
            <a:off x="7452360" y="2071116"/>
            <a:ext cx="457200" cy="0"/>
          </a:xfrm>
          <a:prstGeom prst="line">
            <a:avLst/>
          </a:prstGeom>
          <a:noFill/>
          <a:ln w="9525">
            <a:solidFill>
              <a:srgbClr val="5A646A"/>
            </a:solidFill>
            <a:prstDash val="dash"/>
          </a:ln>
        </p:spPr>
      </p:sp>
      <p:sp>
        <p:nvSpPr>
          <p:cNvPr id="11" name="Text 9"/>
          <p:cNvSpPr/>
          <p:nvPr/>
        </p:nvSpPr>
        <p:spPr>
          <a:xfrm>
            <a:off x="8001000" y="1906524"/>
            <a:ext cx="2926080" cy="329184"/>
          </a:xfrm>
          <a:prstGeom prst="rect">
            <a:avLst/>
          </a:prstGeom>
          <a:noFill/>
          <a:ln/>
        </p:spPr>
        <p:txBody>
          <a:bodyPr wrap="square" lIns="0" tIns="0" rIns="0" bIns="0" rtlCol="0" anchor="ctr"/>
          <a:lstStyle/>
          <a:p>
            <a:pPr algn="l" indent="0" marL="0">
              <a:buNone/>
            </a:pPr>
            <a:r>
              <a:rPr lang="en-US" sz="1100" dirty="0">
                <a:solidFill>
                  <a:srgbClr val="3FE0E8"/>
                </a:solidFill>
                <a:latin typeface="Courier New" pitchFamily="34" charset="0"/>
                <a:ea typeface="Courier New" pitchFamily="34" charset="-122"/>
                <a:cs typeface="Courier New" pitchFamily="34" charset="-120"/>
              </a:rPr>
              <a:t>RAII</a:t>
            </a:r>
            <a:endParaRPr lang="en-US" sz="1100" dirty="0"/>
          </a:p>
        </p:txBody>
      </p:sp>
      <p:sp>
        <p:nvSpPr>
          <p:cNvPr id="12" name="Shape 10"/>
          <p:cNvSpPr/>
          <p:nvPr/>
        </p:nvSpPr>
        <p:spPr>
          <a:xfrm>
            <a:off x="5349240" y="2299716"/>
            <a:ext cx="0" cy="105156"/>
          </a:xfrm>
          <a:prstGeom prst="line">
            <a:avLst/>
          </a:prstGeom>
          <a:noFill/>
          <a:ln w="12700">
            <a:solidFill>
              <a:srgbClr val="838E96"/>
            </a:solidFill>
            <a:prstDash val="solid"/>
            <a:tailEnd type="triangle"/>
          </a:ln>
        </p:spPr>
      </p:sp>
      <p:sp>
        <p:nvSpPr>
          <p:cNvPr id="13" name="Shape 11"/>
          <p:cNvSpPr/>
          <p:nvPr/>
        </p:nvSpPr>
        <p:spPr>
          <a:xfrm>
            <a:off x="3246120" y="2404872"/>
            <a:ext cx="4206240" cy="457200"/>
          </a:xfrm>
          <a:prstGeom prst="rect">
            <a:avLst/>
          </a:prstGeom>
          <a:solidFill>
            <a:srgbClr val="12171A"/>
          </a:solidFill>
          <a:ln w="12700">
            <a:solidFill>
              <a:srgbClr val="2A3236"/>
            </a:solidFill>
            <a:prstDash val="solid"/>
          </a:ln>
        </p:spPr>
      </p:sp>
      <p:sp>
        <p:nvSpPr>
          <p:cNvPr id="14" name="Text 12"/>
          <p:cNvSpPr/>
          <p:nvPr/>
        </p:nvSpPr>
        <p:spPr>
          <a:xfrm>
            <a:off x="3246120" y="2404872"/>
            <a:ext cx="4206240" cy="4572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Gemini embedding</a:t>
            </a:r>
            <a:endParaRPr lang="en-US" sz="1300" dirty="0"/>
          </a:p>
        </p:txBody>
      </p:sp>
      <p:sp>
        <p:nvSpPr>
          <p:cNvPr id="15" name="Shape 13"/>
          <p:cNvSpPr/>
          <p:nvPr/>
        </p:nvSpPr>
        <p:spPr>
          <a:xfrm>
            <a:off x="5349240" y="2862072"/>
            <a:ext cx="0" cy="105156"/>
          </a:xfrm>
          <a:prstGeom prst="line">
            <a:avLst/>
          </a:prstGeom>
          <a:noFill/>
          <a:ln w="12700">
            <a:solidFill>
              <a:srgbClr val="838E96"/>
            </a:solidFill>
            <a:prstDash val="solid"/>
            <a:tailEnd type="triangle"/>
          </a:ln>
        </p:spPr>
      </p:sp>
      <p:sp>
        <p:nvSpPr>
          <p:cNvPr id="16" name="Shape 14"/>
          <p:cNvSpPr/>
          <p:nvPr/>
        </p:nvSpPr>
        <p:spPr>
          <a:xfrm>
            <a:off x="3246120" y="2967228"/>
            <a:ext cx="4206240" cy="457200"/>
          </a:xfrm>
          <a:prstGeom prst="rect">
            <a:avLst/>
          </a:prstGeom>
          <a:solidFill>
            <a:srgbClr val="12171A"/>
          </a:solidFill>
          <a:ln w="12700">
            <a:solidFill>
              <a:srgbClr val="2A3236"/>
            </a:solidFill>
            <a:prstDash val="solid"/>
          </a:ln>
        </p:spPr>
      </p:sp>
      <p:sp>
        <p:nvSpPr>
          <p:cNvPr id="17" name="Text 15"/>
          <p:cNvSpPr/>
          <p:nvPr/>
        </p:nvSpPr>
        <p:spPr>
          <a:xfrm>
            <a:off x="3246120" y="2967228"/>
            <a:ext cx="4206240" cy="4572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MongoDB $vectorSearch</a:t>
            </a:r>
            <a:endParaRPr lang="en-US" sz="1300" dirty="0"/>
          </a:p>
        </p:txBody>
      </p:sp>
      <p:sp>
        <p:nvSpPr>
          <p:cNvPr id="18" name="Shape 16"/>
          <p:cNvSpPr/>
          <p:nvPr/>
        </p:nvSpPr>
        <p:spPr>
          <a:xfrm>
            <a:off x="7452360" y="3195828"/>
            <a:ext cx="457200" cy="0"/>
          </a:xfrm>
          <a:prstGeom prst="line">
            <a:avLst/>
          </a:prstGeom>
          <a:noFill/>
          <a:ln w="9525">
            <a:solidFill>
              <a:srgbClr val="5A646A"/>
            </a:solidFill>
            <a:prstDash val="dash"/>
          </a:ln>
        </p:spPr>
      </p:sp>
      <p:sp>
        <p:nvSpPr>
          <p:cNvPr id="19" name="Text 17"/>
          <p:cNvSpPr/>
          <p:nvPr/>
        </p:nvSpPr>
        <p:spPr>
          <a:xfrm>
            <a:off x="8001000" y="3031236"/>
            <a:ext cx="2926080" cy="329184"/>
          </a:xfrm>
          <a:prstGeom prst="rect">
            <a:avLst/>
          </a:prstGeom>
          <a:noFill/>
          <a:ln/>
        </p:spPr>
        <p:txBody>
          <a:bodyPr wrap="square" lIns="0" tIns="0" rIns="0" bIns="0" rtlCol="0" anchor="ctr"/>
          <a:lstStyle/>
          <a:p>
            <a:pPr algn="l" indent="0" marL="0">
              <a:buNone/>
            </a:pPr>
            <a:r>
              <a:rPr lang="en-US" sz="1100" dirty="0">
                <a:solidFill>
                  <a:srgbClr val="3FE0E8"/>
                </a:solidFill>
                <a:latin typeface="Courier New" pitchFamily="34" charset="0"/>
                <a:ea typeface="Courier New" pitchFamily="34" charset="-122"/>
                <a:cs typeface="Courier New" pitchFamily="34" charset="-120"/>
              </a:rPr>
              <a:t>resource lifetime</a:t>
            </a:r>
            <a:endParaRPr lang="en-US" sz="1100" dirty="0"/>
          </a:p>
        </p:txBody>
      </p:sp>
      <p:sp>
        <p:nvSpPr>
          <p:cNvPr id="20" name="Shape 18"/>
          <p:cNvSpPr/>
          <p:nvPr/>
        </p:nvSpPr>
        <p:spPr>
          <a:xfrm>
            <a:off x="5349240" y="3424428"/>
            <a:ext cx="0" cy="105156"/>
          </a:xfrm>
          <a:prstGeom prst="line">
            <a:avLst/>
          </a:prstGeom>
          <a:noFill/>
          <a:ln w="12700">
            <a:solidFill>
              <a:srgbClr val="838E96"/>
            </a:solidFill>
            <a:prstDash val="solid"/>
            <a:tailEnd type="triangle"/>
          </a:ln>
        </p:spPr>
      </p:sp>
      <p:sp>
        <p:nvSpPr>
          <p:cNvPr id="21" name="Shape 19"/>
          <p:cNvSpPr/>
          <p:nvPr/>
        </p:nvSpPr>
        <p:spPr>
          <a:xfrm>
            <a:off x="3246120" y="3529584"/>
            <a:ext cx="4206240" cy="457200"/>
          </a:xfrm>
          <a:prstGeom prst="rect">
            <a:avLst/>
          </a:prstGeom>
          <a:solidFill>
            <a:srgbClr val="12171A"/>
          </a:solidFill>
          <a:ln w="12700">
            <a:solidFill>
              <a:srgbClr val="2A3236"/>
            </a:solidFill>
            <a:prstDash val="solid"/>
          </a:ln>
        </p:spPr>
      </p:sp>
      <p:sp>
        <p:nvSpPr>
          <p:cNvPr id="22" name="Text 20"/>
          <p:cNvSpPr/>
          <p:nvPr/>
        </p:nvSpPr>
        <p:spPr>
          <a:xfrm>
            <a:off x="3246120" y="3529584"/>
            <a:ext cx="4206240" cy="4572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Top-K chunks</a:t>
            </a:r>
            <a:endParaRPr lang="en-US" sz="1300" dirty="0"/>
          </a:p>
        </p:txBody>
      </p:sp>
      <p:sp>
        <p:nvSpPr>
          <p:cNvPr id="23" name="Shape 21"/>
          <p:cNvSpPr/>
          <p:nvPr/>
        </p:nvSpPr>
        <p:spPr>
          <a:xfrm>
            <a:off x="5349240" y="3986784"/>
            <a:ext cx="0" cy="105156"/>
          </a:xfrm>
          <a:prstGeom prst="line">
            <a:avLst/>
          </a:prstGeom>
          <a:noFill/>
          <a:ln w="12700">
            <a:solidFill>
              <a:srgbClr val="838E96"/>
            </a:solidFill>
            <a:prstDash val="solid"/>
            <a:tailEnd type="triangle"/>
          </a:ln>
        </p:spPr>
      </p:sp>
      <p:sp>
        <p:nvSpPr>
          <p:cNvPr id="24" name="Shape 22"/>
          <p:cNvSpPr/>
          <p:nvPr/>
        </p:nvSpPr>
        <p:spPr>
          <a:xfrm>
            <a:off x="3246120" y="4091940"/>
            <a:ext cx="4206240" cy="457200"/>
          </a:xfrm>
          <a:prstGeom prst="rect">
            <a:avLst/>
          </a:prstGeom>
          <a:solidFill>
            <a:srgbClr val="12171A"/>
          </a:solidFill>
          <a:ln w="12700">
            <a:solidFill>
              <a:srgbClr val="2A3236"/>
            </a:solidFill>
            <a:prstDash val="solid"/>
          </a:ln>
        </p:spPr>
      </p:sp>
      <p:sp>
        <p:nvSpPr>
          <p:cNvPr id="25" name="Text 23"/>
          <p:cNvSpPr/>
          <p:nvPr/>
        </p:nvSpPr>
        <p:spPr>
          <a:xfrm>
            <a:off x="3246120" y="4091940"/>
            <a:ext cx="4206240" cy="4572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assembleContext()</a:t>
            </a:r>
            <a:endParaRPr lang="en-US" sz="1300" dirty="0"/>
          </a:p>
        </p:txBody>
      </p:sp>
      <p:sp>
        <p:nvSpPr>
          <p:cNvPr id="26" name="Shape 24"/>
          <p:cNvSpPr/>
          <p:nvPr/>
        </p:nvSpPr>
        <p:spPr>
          <a:xfrm>
            <a:off x="7452360" y="4320540"/>
            <a:ext cx="457200" cy="0"/>
          </a:xfrm>
          <a:prstGeom prst="line">
            <a:avLst/>
          </a:prstGeom>
          <a:noFill/>
          <a:ln w="9525">
            <a:solidFill>
              <a:srgbClr val="5A646A"/>
            </a:solidFill>
            <a:prstDash val="dash"/>
          </a:ln>
        </p:spPr>
      </p:sp>
      <p:sp>
        <p:nvSpPr>
          <p:cNvPr id="27" name="Text 25"/>
          <p:cNvSpPr/>
          <p:nvPr/>
        </p:nvSpPr>
        <p:spPr>
          <a:xfrm>
            <a:off x="8001000" y="4155948"/>
            <a:ext cx="2926080" cy="329184"/>
          </a:xfrm>
          <a:prstGeom prst="rect">
            <a:avLst/>
          </a:prstGeom>
          <a:noFill/>
          <a:ln/>
        </p:spPr>
        <p:txBody>
          <a:bodyPr wrap="square" lIns="0" tIns="0" rIns="0" bIns="0" rtlCol="0" anchor="ctr"/>
          <a:lstStyle/>
          <a:p>
            <a:pPr algn="l" indent="0" marL="0">
              <a:buNone/>
            </a:pPr>
            <a:r>
              <a:rPr lang="en-US" sz="1100" dirty="0">
                <a:solidFill>
                  <a:srgbClr val="3FE0E8"/>
                </a:solidFill>
                <a:latin typeface="Courier New" pitchFamily="34" charset="0"/>
                <a:ea typeface="Courier New" pitchFamily="34" charset="-122"/>
                <a:cs typeface="Courier New" pitchFamily="34" charset="-120"/>
              </a:rPr>
              <a:t>const-correctness</a:t>
            </a:r>
            <a:endParaRPr lang="en-US" sz="1100" dirty="0"/>
          </a:p>
        </p:txBody>
      </p:sp>
      <p:sp>
        <p:nvSpPr>
          <p:cNvPr id="28" name="Shape 26"/>
          <p:cNvSpPr/>
          <p:nvPr/>
        </p:nvSpPr>
        <p:spPr>
          <a:xfrm>
            <a:off x="5349240" y="4549140"/>
            <a:ext cx="0" cy="105156"/>
          </a:xfrm>
          <a:prstGeom prst="line">
            <a:avLst/>
          </a:prstGeom>
          <a:noFill/>
          <a:ln w="12700">
            <a:solidFill>
              <a:srgbClr val="838E96"/>
            </a:solidFill>
            <a:prstDash val="solid"/>
            <a:tailEnd type="triangle"/>
          </a:ln>
        </p:spPr>
      </p:sp>
      <p:sp>
        <p:nvSpPr>
          <p:cNvPr id="29" name="Shape 27"/>
          <p:cNvSpPr/>
          <p:nvPr/>
        </p:nvSpPr>
        <p:spPr>
          <a:xfrm>
            <a:off x="3246120" y="4654296"/>
            <a:ext cx="4206240" cy="457200"/>
          </a:xfrm>
          <a:prstGeom prst="rect">
            <a:avLst/>
          </a:prstGeom>
          <a:solidFill>
            <a:srgbClr val="12171A"/>
          </a:solidFill>
          <a:ln w="12700">
            <a:solidFill>
              <a:srgbClr val="2A3236"/>
            </a:solidFill>
            <a:prstDash val="solid"/>
          </a:ln>
        </p:spPr>
      </p:sp>
      <p:sp>
        <p:nvSpPr>
          <p:cNvPr id="30" name="Text 28"/>
          <p:cNvSpPr/>
          <p:nvPr/>
        </p:nvSpPr>
        <p:spPr>
          <a:xfrm>
            <a:off x="3246120" y="4654296"/>
            <a:ext cx="4206240" cy="4572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buildPrompt()</a:t>
            </a:r>
            <a:endParaRPr lang="en-US" sz="1300" dirty="0"/>
          </a:p>
        </p:txBody>
      </p:sp>
      <p:sp>
        <p:nvSpPr>
          <p:cNvPr id="31" name="Shape 29"/>
          <p:cNvSpPr/>
          <p:nvPr/>
        </p:nvSpPr>
        <p:spPr>
          <a:xfrm>
            <a:off x="5349240" y="5111496"/>
            <a:ext cx="0" cy="105156"/>
          </a:xfrm>
          <a:prstGeom prst="line">
            <a:avLst/>
          </a:prstGeom>
          <a:noFill/>
          <a:ln w="12700">
            <a:solidFill>
              <a:srgbClr val="838E96"/>
            </a:solidFill>
            <a:prstDash val="solid"/>
            <a:tailEnd type="triangle"/>
          </a:ln>
        </p:spPr>
      </p:sp>
      <p:sp>
        <p:nvSpPr>
          <p:cNvPr id="32" name="Shape 30"/>
          <p:cNvSpPr/>
          <p:nvPr/>
        </p:nvSpPr>
        <p:spPr>
          <a:xfrm>
            <a:off x="3246120" y="5216652"/>
            <a:ext cx="4206240" cy="457200"/>
          </a:xfrm>
          <a:prstGeom prst="rect">
            <a:avLst/>
          </a:prstGeom>
          <a:solidFill>
            <a:srgbClr val="12171A"/>
          </a:solidFill>
          <a:ln w="12700">
            <a:solidFill>
              <a:srgbClr val="2A3236"/>
            </a:solidFill>
            <a:prstDash val="solid"/>
          </a:ln>
        </p:spPr>
      </p:sp>
      <p:sp>
        <p:nvSpPr>
          <p:cNvPr id="33" name="Text 31"/>
          <p:cNvSpPr/>
          <p:nvPr/>
        </p:nvSpPr>
        <p:spPr>
          <a:xfrm>
            <a:off x="3246120" y="5216652"/>
            <a:ext cx="4206240" cy="4572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generateResponse()</a:t>
            </a:r>
            <a:endParaRPr lang="en-US" sz="1300" dirty="0"/>
          </a:p>
        </p:txBody>
      </p:sp>
      <p:sp>
        <p:nvSpPr>
          <p:cNvPr id="34" name="Shape 32"/>
          <p:cNvSpPr/>
          <p:nvPr/>
        </p:nvSpPr>
        <p:spPr>
          <a:xfrm>
            <a:off x="7452360" y="5445252"/>
            <a:ext cx="457200" cy="0"/>
          </a:xfrm>
          <a:prstGeom prst="line">
            <a:avLst/>
          </a:prstGeom>
          <a:noFill/>
          <a:ln w="9525">
            <a:solidFill>
              <a:srgbClr val="5A646A"/>
            </a:solidFill>
            <a:prstDash val="dash"/>
          </a:ln>
        </p:spPr>
      </p:sp>
      <p:sp>
        <p:nvSpPr>
          <p:cNvPr id="35" name="Text 33"/>
          <p:cNvSpPr/>
          <p:nvPr/>
        </p:nvSpPr>
        <p:spPr>
          <a:xfrm>
            <a:off x="8001000" y="5280660"/>
            <a:ext cx="2926080" cy="329184"/>
          </a:xfrm>
          <a:prstGeom prst="rect">
            <a:avLst/>
          </a:prstGeom>
          <a:noFill/>
          <a:ln/>
        </p:spPr>
        <p:txBody>
          <a:bodyPr wrap="square" lIns="0" tIns="0" rIns="0" bIns="0" rtlCol="0" anchor="ctr"/>
          <a:lstStyle/>
          <a:p>
            <a:pPr algn="l" indent="0" marL="0">
              <a:buNone/>
            </a:pPr>
            <a:r>
              <a:rPr lang="en-US" sz="1100" dirty="0">
                <a:solidFill>
                  <a:srgbClr val="3FE0E8"/>
                </a:solidFill>
                <a:latin typeface="Courier New" pitchFamily="34" charset="0"/>
                <a:ea typeface="Courier New" pitchFamily="34" charset="-122"/>
                <a:cs typeface="Courier New" pitchFamily="34" charset="-120"/>
              </a:rPr>
              <a:t>explicit error handling</a:t>
            </a:r>
            <a:endParaRPr lang="en-US" sz="1100" dirty="0"/>
          </a:p>
        </p:txBody>
      </p:sp>
      <p:sp>
        <p:nvSpPr>
          <p:cNvPr id="36" name="Shape 34"/>
          <p:cNvSpPr/>
          <p:nvPr/>
        </p:nvSpPr>
        <p:spPr>
          <a:xfrm>
            <a:off x="5349240" y="5673852"/>
            <a:ext cx="0" cy="105156"/>
          </a:xfrm>
          <a:prstGeom prst="line">
            <a:avLst/>
          </a:prstGeom>
          <a:noFill/>
          <a:ln w="12700">
            <a:solidFill>
              <a:srgbClr val="838E96"/>
            </a:solidFill>
            <a:prstDash val="solid"/>
            <a:tailEnd type="triangle"/>
          </a:ln>
        </p:spPr>
      </p:sp>
      <p:sp>
        <p:nvSpPr>
          <p:cNvPr id="37" name="Shape 35"/>
          <p:cNvSpPr/>
          <p:nvPr/>
        </p:nvSpPr>
        <p:spPr>
          <a:xfrm>
            <a:off x="3246120" y="5779008"/>
            <a:ext cx="4206240" cy="457200"/>
          </a:xfrm>
          <a:prstGeom prst="rect">
            <a:avLst/>
          </a:prstGeom>
          <a:solidFill>
            <a:srgbClr val="0D1214"/>
          </a:solidFill>
          <a:ln w="15875">
            <a:solidFill>
              <a:srgbClr val="3FE0E8"/>
            </a:solidFill>
            <a:prstDash val="solid"/>
          </a:ln>
        </p:spPr>
      </p:sp>
      <p:sp>
        <p:nvSpPr>
          <p:cNvPr id="38" name="Text 36"/>
          <p:cNvSpPr/>
          <p:nvPr/>
        </p:nvSpPr>
        <p:spPr>
          <a:xfrm>
            <a:off x="3246120" y="5779008"/>
            <a:ext cx="4206240" cy="457200"/>
          </a:xfrm>
          <a:prstGeom prst="rect">
            <a:avLst/>
          </a:prstGeom>
          <a:noFill/>
          <a:ln/>
        </p:spPr>
        <p:txBody>
          <a:bodyPr wrap="square" lIns="0" tIns="0" rIns="0" bIns="0" rtlCol="0" anchor="ctr"/>
          <a:lstStyle/>
          <a:p>
            <a:pPr algn="ctr" indent="0" marL="0">
              <a:buNone/>
            </a:pPr>
            <a:r>
              <a:rPr lang="en-US" sz="1300" b="1" dirty="0">
                <a:solidFill>
                  <a:srgbClr val="3FE0E8"/>
                </a:solidFill>
                <a:latin typeface="Courier New" pitchFamily="34" charset="0"/>
                <a:ea typeface="Courier New" pitchFamily="34" charset="-122"/>
                <a:cs typeface="Courier New" pitchFamily="34" charset="-120"/>
              </a:rPr>
              <a:t>GROUNDED ANSWER</a:t>
            </a:r>
            <a:endParaRPr lang="en-US" sz="1300" dirty="0"/>
          </a:p>
        </p:txBody>
      </p:sp>
      <p:sp>
        <p:nvSpPr>
          <p:cNvPr id="39" name="Text 37"/>
          <p:cNvSpPr/>
          <p:nvPr/>
        </p:nvSpPr>
        <p:spPr>
          <a:xfrm>
            <a:off x="3246120" y="6373368"/>
            <a:ext cx="4572000" cy="228600"/>
          </a:xfrm>
          <a:prstGeom prst="rect">
            <a:avLst/>
          </a:prstGeom>
          <a:noFill/>
          <a:ln/>
        </p:spPr>
        <p:txBody>
          <a:bodyPr wrap="square" lIns="0" tIns="0" rIns="0" bIns="0" rtlCol="0" anchor="ctr"/>
          <a:lstStyle/>
          <a:p>
            <a:pPr algn="l" indent="0" marL="0">
              <a:buNone/>
            </a:pPr>
            <a:r>
              <a:rPr lang="en-US" sz="900" spc="50" kern="0" dirty="0">
                <a:solidFill>
                  <a:srgbClr val="5A646A"/>
                </a:solidFill>
                <a:latin typeface="Courier New" pitchFamily="34" charset="0"/>
                <a:ea typeface="Courier New" pitchFamily="34" charset="-122"/>
                <a:cs typeface="Courier New" pitchFamily="34" charset="-120"/>
              </a:rPr>
              <a:t>annotations = C++-specific engineering concerns at each stage</a:t>
            </a:r>
            <a:endParaRPr lang="en-US" sz="900" dirty="0"/>
          </a:p>
        </p:txBody>
      </p:sp>
      <p:sp>
        <p:nvSpPr>
          <p:cNvPr id="40" name="Text 38"/>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548640" y="411480"/>
            <a:ext cx="3657600" cy="274320"/>
          </a:xfrm>
          <a:prstGeom prst="rect">
            <a:avLst/>
          </a:prstGeom>
          <a:noFill/>
          <a:ln/>
        </p:spPr>
        <p:txBody>
          <a:bodyPr wrap="square" lIns="0" tIns="0" rIns="0" bIns="0" rtlCol="0" anchor="ctr"/>
          <a:lstStyle/>
          <a:p>
            <a:pPr algn="l" indent="0" marL="0">
              <a:buNone/>
            </a:pPr>
            <a:r>
              <a:rPr lang="en-US" sz="1100" spc="200" kern="0" dirty="0">
                <a:solidFill>
                  <a:srgbClr val="3FE0E8"/>
                </a:solidFill>
                <a:latin typeface="Courier New" pitchFamily="34" charset="0"/>
                <a:ea typeface="Courier New" pitchFamily="34" charset="-122"/>
                <a:cs typeface="Courier New" pitchFamily="34" charset="-120"/>
              </a:rPr>
              <a:t>05 — THE INGESTION</a:t>
            </a:r>
            <a:endParaRPr lang="en-US" sz="1100" dirty="0"/>
          </a:p>
        </p:txBody>
      </p:sp>
      <p:sp>
        <p:nvSpPr>
          <p:cNvPr id="3" name="Text 1"/>
          <p:cNvSpPr/>
          <p:nvPr/>
        </p:nvSpPr>
        <p:spPr>
          <a:xfrm>
            <a:off x="548640" y="658368"/>
            <a:ext cx="7315200" cy="320040"/>
          </a:xfrm>
          <a:prstGeom prst="rect">
            <a:avLst/>
          </a:prstGeom>
          <a:noFill/>
          <a:ln/>
        </p:spPr>
        <p:txBody>
          <a:bodyPr wrap="square" lIns="0" tIns="0" rIns="0" bIns="0" rtlCol="0" anchor="ctr"/>
          <a:lstStyle/>
          <a:p>
            <a:pPr indent="0" marL="0">
              <a:buNone/>
            </a:pPr>
            <a:r>
              <a:rPr lang="en-US" sz="1100" dirty="0">
                <a:solidFill>
                  <a:srgbClr val="838E96"/>
                </a:solidFill>
                <a:latin typeface="Courier New" pitchFamily="34" charset="0"/>
                <a:ea typeface="Courier New" pitchFamily="34" charset="-122"/>
                <a:cs typeface="Courier New" pitchFamily="34" charset="-120"/>
              </a:rPr>
              <a:t>document → embedding → vector search</a:t>
            </a:r>
            <a:endParaRPr lang="en-US" sz="1100" dirty="0"/>
          </a:p>
        </p:txBody>
      </p:sp>
      <p:sp>
        <p:nvSpPr>
          <p:cNvPr id="4" name="Shape 2"/>
          <p:cNvSpPr/>
          <p:nvPr/>
        </p:nvSpPr>
        <p:spPr>
          <a:xfrm>
            <a:off x="548640" y="1024128"/>
            <a:ext cx="11094415" cy="0"/>
          </a:xfrm>
          <a:prstGeom prst="line">
            <a:avLst/>
          </a:prstGeom>
          <a:noFill/>
          <a:ln w="9525">
            <a:solidFill>
              <a:srgbClr val="1D2427"/>
            </a:solidFill>
            <a:prstDash val="solid"/>
          </a:ln>
        </p:spPr>
      </p:sp>
      <p:sp>
        <p:nvSpPr>
          <p:cNvPr id="5" name="Shape 3"/>
          <p:cNvSpPr/>
          <p:nvPr/>
        </p:nvSpPr>
        <p:spPr>
          <a:xfrm>
            <a:off x="1043788" y="1600200"/>
            <a:ext cx="2148840" cy="914400"/>
          </a:xfrm>
          <a:prstGeom prst="rect">
            <a:avLst/>
          </a:prstGeom>
          <a:solidFill>
            <a:srgbClr val="12171A"/>
          </a:solidFill>
          <a:ln w="12700">
            <a:solidFill>
              <a:srgbClr val="2A3236"/>
            </a:solidFill>
            <a:prstDash val="solid"/>
          </a:ln>
        </p:spPr>
      </p:sp>
      <p:sp>
        <p:nvSpPr>
          <p:cNvPr id="6" name="Text 4"/>
          <p:cNvSpPr/>
          <p:nvPr/>
        </p:nvSpPr>
        <p:spPr>
          <a:xfrm>
            <a:off x="1043788" y="1600200"/>
            <a:ext cx="2148840" cy="9144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SOURCE</a:t>
            </a:r>
            <a:endParaRPr lang="en-US" sz="1300" dirty="0"/>
          </a:p>
          <a:p>
            <a:pPr algn="ctr" indent="0" marL="0">
              <a:buNone/>
            </a:pPr>
            <a:r>
              <a:rPr lang="en-US" sz="1300" dirty="0">
                <a:solidFill>
                  <a:srgbClr val="EDEFF1"/>
                </a:solidFill>
                <a:latin typeface="Courier New" pitchFamily="34" charset="0"/>
                <a:ea typeface="Courier New" pitchFamily="34" charset="-122"/>
                <a:cs typeface="Courier New" pitchFamily="34" charset="-120"/>
              </a:rPr>
              <a:t>DOCUMENT</a:t>
            </a:r>
            <a:endParaRPr lang="en-US" sz="1300" dirty="0"/>
          </a:p>
        </p:txBody>
      </p:sp>
      <p:sp>
        <p:nvSpPr>
          <p:cNvPr id="7" name="Shape 5"/>
          <p:cNvSpPr/>
          <p:nvPr/>
        </p:nvSpPr>
        <p:spPr>
          <a:xfrm>
            <a:off x="3192628" y="2057400"/>
            <a:ext cx="502920" cy="0"/>
          </a:xfrm>
          <a:prstGeom prst="line">
            <a:avLst/>
          </a:prstGeom>
          <a:noFill/>
          <a:ln w="12700">
            <a:solidFill>
              <a:srgbClr val="838E96"/>
            </a:solidFill>
            <a:prstDash val="solid"/>
            <a:tailEnd type="triangle"/>
          </a:ln>
        </p:spPr>
      </p:sp>
      <p:sp>
        <p:nvSpPr>
          <p:cNvPr id="8" name="Shape 6"/>
          <p:cNvSpPr/>
          <p:nvPr/>
        </p:nvSpPr>
        <p:spPr>
          <a:xfrm>
            <a:off x="3695548" y="1600200"/>
            <a:ext cx="2148840" cy="914400"/>
          </a:xfrm>
          <a:prstGeom prst="rect">
            <a:avLst/>
          </a:prstGeom>
          <a:solidFill>
            <a:srgbClr val="12171A"/>
          </a:solidFill>
          <a:ln w="12700">
            <a:solidFill>
              <a:srgbClr val="2A3236"/>
            </a:solidFill>
            <a:prstDash val="solid"/>
          </a:ln>
        </p:spPr>
      </p:sp>
      <p:sp>
        <p:nvSpPr>
          <p:cNvPr id="9" name="Text 7"/>
          <p:cNvSpPr/>
          <p:nvPr/>
        </p:nvSpPr>
        <p:spPr>
          <a:xfrm>
            <a:off x="3695548" y="1600200"/>
            <a:ext cx="2148840" cy="9144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CHUNK</a:t>
            </a:r>
            <a:endParaRPr lang="en-US" sz="1300" dirty="0"/>
          </a:p>
        </p:txBody>
      </p:sp>
      <p:sp>
        <p:nvSpPr>
          <p:cNvPr id="10" name="Shape 8"/>
          <p:cNvSpPr/>
          <p:nvPr/>
        </p:nvSpPr>
        <p:spPr>
          <a:xfrm>
            <a:off x="5844388" y="2057400"/>
            <a:ext cx="502920" cy="0"/>
          </a:xfrm>
          <a:prstGeom prst="line">
            <a:avLst/>
          </a:prstGeom>
          <a:noFill/>
          <a:ln w="12700">
            <a:solidFill>
              <a:srgbClr val="838E96"/>
            </a:solidFill>
            <a:prstDash val="solid"/>
            <a:tailEnd type="triangle"/>
          </a:ln>
        </p:spPr>
      </p:sp>
      <p:sp>
        <p:nvSpPr>
          <p:cNvPr id="11" name="Shape 9"/>
          <p:cNvSpPr/>
          <p:nvPr/>
        </p:nvSpPr>
        <p:spPr>
          <a:xfrm>
            <a:off x="6347308" y="1600200"/>
            <a:ext cx="2148840" cy="914400"/>
          </a:xfrm>
          <a:prstGeom prst="rect">
            <a:avLst/>
          </a:prstGeom>
          <a:solidFill>
            <a:srgbClr val="12171A"/>
          </a:solidFill>
          <a:ln w="12700">
            <a:solidFill>
              <a:srgbClr val="2A3236"/>
            </a:solidFill>
            <a:prstDash val="solid"/>
          </a:ln>
        </p:spPr>
      </p:sp>
      <p:sp>
        <p:nvSpPr>
          <p:cNvPr id="12" name="Text 10"/>
          <p:cNvSpPr/>
          <p:nvPr/>
        </p:nvSpPr>
        <p:spPr>
          <a:xfrm>
            <a:off x="6347308" y="1600200"/>
            <a:ext cx="2148840" cy="9144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EMBEDDING</a:t>
            </a:r>
            <a:endParaRPr lang="en-US" sz="1300" dirty="0"/>
          </a:p>
        </p:txBody>
      </p:sp>
      <p:sp>
        <p:nvSpPr>
          <p:cNvPr id="13" name="Shape 11"/>
          <p:cNvSpPr/>
          <p:nvPr/>
        </p:nvSpPr>
        <p:spPr>
          <a:xfrm>
            <a:off x="8496148" y="2057400"/>
            <a:ext cx="502920" cy="0"/>
          </a:xfrm>
          <a:prstGeom prst="line">
            <a:avLst/>
          </a:prstGeom>
          <a:noFill/>
          <a:ln w="12700">
            <a:solidFill>
              <a:srgbClr val="838E96"/>
            </a:solidFill>
            <a:prstDash val="solid"/>
            <a:tailEnd type="triangle"/>
          </a:ln>
        </p:spPr>
      </p:sp>
      <p:sp>
        <p:nvSpPr>
          <p:cNvPr id="14" name="Shape 12"/>
          <p:cNvSpPr/>
          <p:nvPr/>
        </p:nvSpPr>
        <p:spPr>
          <a:xfrm>
            <a:off x="8999068" y="1600200"/>
            <a:ext cx="2148840" cy="914400"/>
          </a:xfrm>
          <a:prstGeom prst="rect">
            <a:avLst/>
          </a:prstGeom>
          <a:solidFill>
            <a:srgbClr val="12171A"/>
          </a:solidFill>
          <a:ln w="12700">
            <a:solidFill>
              <a:srgbClr val="2A3236"/>
            </a:solidFill>
            <a:prstDash val="solid"/>
          </a:ln>
        </p:spPr>
      </p:sp>
      <p:sp>
        <p:nvSpPr>
          <p:cNvPr id="15" name="Text 13"/>
          <p:cNvSpPr/>
          <p:nvPr/>
        </p:nvSpPr>
        <p:spPr>
          <a:xfrm>
            <a:off x="8999068" y="1600200"/>
            <a:ext cx="2148840" cy="914400"/>
          </a:xfrm>
          <a:prstGeom prst="rect">
            <a:avLst/>
          </a:prstGeom>
          <a:noFill/>
          <a:ln/>
        </p:spPr>
        <p:txBody>
          <a:bodyPr wrap="square" lIns="0" tIns="0" rIns="0" bIns="0" rtlCol="0" anchor="ctr"/>
          <a:lstStyle/>
          <a:p>
            <a:pPr algn="ctr" indent="0" marL="0">
              <a:buNone/>
            </a:pPr>
            <a:r>
              <a:rPr lang="en-US" sz="1300" dirty="0">
                <a:solidFill>
                  <a:srgbClr val="EDEFF1"/>
                </a:solidFill>
                <a:latin typeface="Courier New" pitchFamily="34" charset="0"/>
                <a:ea typeface="Courier New" pitchFamily="34" charset="-122"/>
                <a:cs typeface="Courier New" pitchFamily="34" charset="-120"/>
              </a:rPr>
              <a:t>VECTOR</a:t>
            </a:r>
            <a:endParaRPr lang="en-US" sz="1300" dirty="0"/>
          </a:p>
        </p:txBody>
      </p:sp>
      <p:sp>
        <p:nvSpPr>
          <p:cNvPr id="16" name="Shape 14"/>
          <p:cNvSpPr/>
          <p:nvPr/>
        </p:nvSpPr>
        <p:spPr>
          <a:xfrm>
            <a:off x="10073488" y="2514600"/>
            <a:ext cx="0" cy="365760"/>
          </a:xfrm>
          <a:prstGeom prst="line">
            <a:avLst/>
          </a:prstGeom>
          <a:noFill/>
          <a:ln w="12700">
            <a:solidFill>
              <a:srgbClr val="838E96"/>
            </a:solidFill>
            <a:prstDash val="solid"/>
            <a:tailEnd type="triangle"/>
          </a:ln>
        </p:spPr>
      </p:sp>
      <p:sp>
        <p:nvSpPr>
          <p:cNvPr id="17" name="Shape 15"/>
          <p:cNvSpPr/>
          <p:nvPr/>
        </p:nvSpPr>
        <p:spPr>
          <a:xfrm>
            <a:off x="1798168" y="3017520"/>
            <a:ext cx="8595360" cy="1874520"/>
          </a:xfrm>
          <a:prstGeom prst="rect">
            <a:avLst/>
          </a:prstGeom>
          <a:solidFill>
            <a:srgbClr val="0D1214"/>
          </a:solidFill>
          <a:ln w="15875">
            <a:solidFill>
              <a:srgbClr val="3FE0E8"/>
            </a:solidFill>
            <a:prstDash val="solid"/>
          </a:ln>
        </p:spPr>
      </p:sp>
      <p:sp>
        <p:nvSpPr>
          <p:cNvPr id="18" name="Text 16"/>
          <p:cNvSpPr/>
          <p:nvPr/>
        </p:nvSpPr>
        <p:spPr>
          <a:xfrm>
            <a:off x="1798168" y="3182112"/>
            <a:ext cx="8595360" cy="365760"/>
          </a:xfrm>
          <a:prstGeom prst="rect">
            <a:avLst/>
          </a:prstGeom>
          <a:noFill/>
          <a:ln/>
        </p:spPr>
        <p:txBody>
          <a:bodyPr wrap="square" lIns="0" tIns="0" rIns="0" bIns="0" rtlCol="0" anchor="ctr"/>
          <a:lstStyle/>
          <a:p>
            <a:pPr algn="ctr" indent="0" marL="0">
              <a:buNone/>
            </a:pPr>
            <a:r>
              <a:rPr lang="en-US" sz="1400" b="1" dirty="0">
                <a:solidFill>
                  <a:srgbClr val="3FE0E8"/>
                </a:solidFill>
                <a:latin typeface="Courier New" pitchFamily="34" charset="0"/>
                <a:ea typeface="Courier New" pitchFamily="34" charset="-122"/>
                <a:cs typeface="Courier New" pitchFamily="34" charset="-120"/>
              </a:rPr>
              <a:t>MongoDB Atlas — vector index</a:t>
            </a:r>
            <a:endParaRPr lang="en-US" sz="1400" dirty="0"/>
          </a:p>
        </p:txBody>
      </p:sp>
      <p:sp>
        <p:nvSpPr>
          <p:cNvPr id="19" name="Shape 17"/>
          <p:cNvSpPr/>
          <p:nvPr/>
        </p:nvSpPr>
        <p:spPr>
          <a:xfrm>
            <a:off x="2255368" y="3639312"/>
            <a:ext cx="7680960" cy="0"/>
          </a:xfrm>
          <a:prstGeom prst="line">
            <a:avLst/>
          </a:prstGeom>
          <a:noFill/>
          <a:ln w="9525">
            <a:solidFill>
              <a:srgbClr val="2A3236"/>
            </a:solidFill>
            <a:prstDash val="solid"/>
          </a:ln>
        </p:spPr>
      </p:sp>
      <p:sp>
        <p:nvSpPr>
          <p:cNvPr id="20" name="Text 18"/>
          <p:cNvSpPr/>
          <p:nvPr/>
        </p:nvSpPr>
        <p:spPr>
          <a:xfrm>
            <a:off x="1889608" y="3840480"/>
            <a:ext cx="1536192" cy="274320"/>
          </a:xfrm>
          <a:prstGeom prst="rect">
            <a:avLst/>
          </a:prstGeom>
          <a:noFill/>
          <a:ln/>
        </p:spPr>
        <p:txBody>
          <a:bodyPr wrap="square" lIns="0" tIns="0" rIns="0" bIns="0" rtlCol="0" anchor="ctr"/>
          <a:lstStyle/>
          <a:p>
            <a:pPr algn="ctr" indent="0" marL="0">
              <a:buNone/>
            </a:pPr>
            <a:r>
              <a:rPr lang="en-US" sz="1000" dirty="0">
                <a:solidFill>
                  <a:srgbClr val="838E96"/>
                </a:solidFill>
                <a:latin typeface="Courier New" pitchFamily="34" charset="0"/>
                <a:ea typeface="Courier New" pitchFamily="34" charset="-122"/>
                <a:cs typeface="Courier New" pitchFamily="34" charset="-120"/>
              </a:rPr>
              <a:t>dimensions</a:t>
            </a:r>
            <a:endParaRPr lang="en-US" sz="1000" dirty="0"/>
          </a:p>
        </p:txBody>
      </p:sp>
      <p:sp>
        <p:nvSpPr>
          <p:cNvPr id="21" name="Text 19"/>
          <p:cNvSpPr/>
          <p:nvPr/>
        </p:nvSpPr>
        <p:spPr>
          <a:xfrm>
            <a:off x="1889608" y="4133088"/>
            <a:ext cx="1536192" cy="594360"/>
          </a:xfrm>
          <a:prstGeom prst="rect">
            <a:avLst/>
          </a:prstGeom>
          <a:noFill/>
          <a:ln/>
        </p:spPr>
        <p:txBody>
          <a:bodyPr wrap="square" lIns="0" tIns="0" rIns="0" bIns="0" rtlCol="0" anchor="t"/>
          <a:lstStyle/>
          <a:p>
            <a:pPr algn="ctr" indent="0" marL="0">
              <a:buNone/>
            </a:pPr>
            <a:r>
              <a:rPr lang="en-US" sz="1350" b="1" dirty="0">
                <a:solidFill>
                  <a:srgbClr val="EDEFF1"/>
                </a:solidFill>
                <a:latin typeface="Courier New" pitchFamily="34" charset="0"/>
                <a:ea typeface="Courier New" pitchFamily="34" charset="-122"/>
                <a:cs typeface="Courier New" pitchFamily="34" charset="-120"/>
              </a:rPr>
              <a:t>768</a:t>
            </a:r>
            <a:endParaRPr lang="en-US" sz="1350" dirty="0"/>
          </a:p>
        </p:txBody>
      </p:sp>
      <p:sp>
        <p:nvSpPr>
          <p:cNvPr id="22" name="Text 20"/>
          <p:cNvSpPr/>
          <p:nvPr/>
        </p:nvSpPr>
        <p:spPr>
          <a:xfrm>
            <a:off x="3608680" y="3840480"/>
            <a:ext cx="1536192" cy="274320"/>
          </a:xfrm>
          <a:prstGeom prst="rect">
            <a:avLst/>
          </a:prstGeom>
          <a:noFill/>
          <a:ln/>
        </p:spPr>
        <p:txBody>
          <a:bodyPr wrap="square" lIns="0" tIns="0" rIns="0" bIns="0" rtlCol="0" anchor="ctr"/>
          <a:lstStyle/>
          <a:p>
            <a:pPr algn="ctr" indent="0" marL="0">
              <a:buNone/>
            </a:pPr>
            <a:r>
              <a:rPr lang="en-US" sz="1000" dirty="0">
                <a:solidFill>
                  <a:srgbClr val="838E96"/>
                </a:solidFill>
                <a:latin typeface="Courier New" pitchFamily="34" charset="0"/>
                <a:ea typeface="Courier New" pitchFamily="34" charset="-122"/>
                <a:cs typeface="Courier New" pitchFamily="34" charset="-120"/>
              </a:rPr>
              <a:t>similarity</a:t>
            </a:r>
            <a:endParaRPr lang="en-US" sz="1000" dirty="0"/>
          </a:p>
        </p:txBody>
      </p:sp>
      <p:sp>
        <p:nvSpPr>
          <p:cNvPr id="23" name="Text 21"/>
          <p:cNvSpPr/>
          <p:nvPr/>
        </p:nvSpPr>
        <p:spPr>
          <a:xfrm>
            <a:off x="3608680" y="4133088"/>
            <a:ext cx="1536192" cy="594360"/>
          </a:xfrm>
          <a:prstGeom prst="rect">
            <a:avLst/>
          </a:prstGeom>
          <a:noFill/>
          <a:ln/>
        </p:spPr>
        <p:txBody>
          <a:bodyPr wrap="square" lIns="0" tIns="0" rIns="0" bIns="0" rtlCol="0" anchor="t"/>
          <a:lstStyle/>
          <a:p>
            <a:pPr algn="ctr" indent="0" marL="0">
              <a:buNone/>
            </a:pPr>
            <a:r>
              <a:rPr lang="en-US" sz="1350" b="1" dirty="0">
                <a:solidFill>
                  <a:srgbClr val="EDEFF1"/>
                </a:solidFill>
                <a:latin typeface="Courier New" pitchFamily="34" charset="0"/>
                <a:ea typeface="Courier New" pitchFamily="34" charset="-122"/>
                <a:cs typeface="Courier New" pitchFamily="34" charset="-120"/>
              </a:rPr>
              <a:t>cosine</a:t>
            </a:r>
            <a:endParaRPr lang="en-US" sz="1350" dirty="0"/>
          </a:p>
        </p:txBody>
      </p:sp>
      <p:sp>
        <p:nvSpPr>
          <p:cNvPr id="24" name="Shape 22"/>
          <p:cNvSpPr/>
          <p:nvPr/>
        </p:nvSpPr>
        <p:spPr>
          <a:xfrm>
            <a:off x="3517240" y="3822192"/>
            <a:ext cx="0" cy="914400"/>
          </a:xfrm>
          <a:prstGeom prst="line">
            <a:avLst/>
          </a:prstGeom>
          <a:noFill/>
          <a:ln w="9525">
            <a:solidFill>
              <a:srgbClr val="1D2427"/>
            </a:solidFill>
            <a:prstDash val="solid"/>
          </a:ln>
        </p:spPr>
      </p:sp>
      <p:sp>
        <p:nvSpPr>
          <p:cNvPr id="25" name="Text 23"/>
          <p:cNvSpPr/>
          <p:nvPr/>
        </p:nvSpPr>
        <p:spPr>
          <a:xfrm>
            <a:off x="5327752" y="3840480"/>
            <a:ext cx="1536192" cy="274320"/>
          </a:xfrm>
          <a:prstGeom prst="rect">
            <a:avLst/>
          </a:prstGeom>
          <a:noFill/>
          <a:ln/>
        </p:spPr>
        <p:txBody>
          <a:bodyPr wrap="square" lIns="0" tIns="0" rIns="0" bIns="0" rtlCol="0" anchor="ctr"/>
          <a:lstStyle/>
          <a:p>
            <a:pPr algn="ctr" indent="0" marL="0">
              <a:buNone/>
            </a:pPr>
            <a:r>
              <a:rPr lang="en-US" sz="1000" dirty="0">
                <a:solidFill>
                  <a:srgbClr val="838E96"/>
                </a:solidFill>
                <a:latin typeface="Courier New" pitchFamily="34" charset="0"/>
                <a:ea typeface="Courier New" pitchFamily="34" charset="-122"/>
                <a:cs typeface="Courier New" pitchFamily="34" charset="-120"/>
              </a:rPr>
              <a:t>path</a:t>
            </a:r>
            <a:endParaRPr lang="en-US" sz="1000" dirty="0"/>
          </a:p>
        </p:txBody>
      </p:sp>
      <p:sp>
        <p:nvSpPr>
          <p:cNvPr id="26" name="Text 24"/>
          <p:cNvSpPr/>
          <p:nvPr/>
        </p:nvSpPr>
        <p:spPr>
          <a:xfrm>
            <a:off x="5327752" y="4133088"/>
            <a:ext cx="1536192" cy="594360"/>
          </a:xfrm>
          <a:prstGeom prst="rect">
            <a:avLst/>
          </a:prstGeom>
          <a:noFill/>
          <a:ln/>
        </p:spPr>
        <p:txBody>
          <a:bodyPr wrap="square" lIns="0" tIns="0" rIns="0" bIns="0" rtlCol="0" anchor="t"/>
          <a:lstStyle/>
          <a:p>
            <a:pPr algn="ctr" indent="0" marL="0">
              <a:buNone/>
            </a:pPr>
            <a:r>
              <a:rPr lang="en-US" sz="1350" b="1" dirty="0">
                <a:solidFill>
                  <a:srgbClr val="EDEFF1"/>
                </a:solidFill>
                <a:latin typeface="Courier New" pitchFamily="34" charset="0"/>
                <a:ea typeface="Courier New" pitchFamily="34" charset="-122"/>
                <a:cs typeface="Courier New" pitchFamily="34" charset="-120"/>
              </a:rPr>
              <a:t>embedding</a:t>
            </a:r>
            <a:endParaRPr lang="en-US" sz="1350" dirty="0"/>
          </a:p>
        </p:txBody>
      </p:sp>
      <p:sp>
        <p:nvSpPr>
          <p:cNvPr id="27" name="Shape 25"/>
          <p:cNvSpPr/>
          <p:nvPr/>
        </p:nvSpPr>
        <p:spPr>
          <a:xfrm>
            <a:off x="5236312" y="3822192"/>
            <a:ext cx="0" cy="914400"/>
          </a:xfrm>
          <a:prstGeom prst="line">
            <a:avLst/>
          </a:prstGeom>
          <a:noFill/>
          <a:ln w="9525">
            <a:solidFill>
              <a:srgbClr val="1D2427"/>
            </a:solidFill>
            <a:prstDash val="solid"/>
          </a:ln>
        </p:spPr>
      </p:sp>
      <p:sp>
        <p:nvSpPr>
          <p:cNvPr id="28" name="Text 26"/>
          <p:cNvSpPr/>
          <p:nvPr/>
        </p:nvSpPr>
        <p:spPr>
          <a:xfrm>
            <a:off x="7046824" y="3840480"/>
            <a:ext cx="1536192" cy="274320"/>
          </a:xfrm>
          <a:prstGeom prst="rect">
            <a:avLst/>
          </a:prstGeom>
          <a:noFill/>
          <a:ln/>
        </p:spPr>
        <p:txBody>
          <a:bodyPr wrap="square" lIns="0" tIns="0" rIns="0" bIns="0" rtlCol="0" anchor="ctr"/>
          <a:lstStyle/>
          <a:p>
            <a:pPr algn="ctr" indent="0" marL="0">
              <a:buNone/>
            </a:pPr>
            <a:r>
              <a:rPr lang="en-US" sz="1000" dirty="0">
                <a:solidFill>
                  <a:srgbClr val="838E96"/>
                </a:solidFill>
                <a:latin typeface="Courier New" pitchFamily="34" charset="0"/>
                <a:ea typeface="Courier New" pitchFamily="34" charset="-122"/>
                <a:cs typeface="Courier New" pitchFamily="34" charset="-120"/>
              </a:rPr>
              <a:t>index</a:t>
            </a:r>
            <a:endParaRPr lang="en-US" sz="1000" dirty="0"/>
          </a:p>
        </p:txBody>
      </p:sp>
      <p:sp>
        <p:nvSpPr>
          <p:cNvPr id="29" name="Text 27"/>
          <p:cNvSpPr/>
          <p:nvPr/>
        </p:nvSpPr>
        <p:spPr>
          <a:xfrm>
            <a:off x="7046824" y="4133088"/>
            <a:ext cx="1536192" cy="594360"/>
          </a:xfrm>
          <a:prstGeom prst="rect">
            <a:avLst/>
          </a:prstGeom>
          <a:noFill/>
          <a:ln/>
        </p:spPr>
        <p:txBody>
          <a:bodyPr wrap="square" lIns="0" tIns="0" rIns="0" bIns="0" rtlCol="0" anchor="t"/>
          <a:lstStyle/>
          <a:p>
            <a:pPr algn="ctr" indent="0" marL="0">
              <a:buNone/>
            </a:pPr>
            <a:r>
              <a:rPr lang="en-US" sz="1350" b="1" dirty="0">
                <a:solidFill>
                  <a:srgbClr val="EDEFF1"/>
                </a:solidFill>
                <a:latin typeface="Courier New" pitchFamily="34" charset="0"/>
                <a:ea typeface="Courier New" pitchFamily="34" charset="-122"/>
                <a:cs typeface="Courier New" pitchFamily="34" charset="-120"/>
              </a:rPr>
              <a:t>vector_index</a:t>
            </a:r>
            <a:endParaRPr lang="en-US" sz="1350" dirty="0"/>
          </a:p>
        </p:txBody>
      </p:sp>
      <p:sp>
        <p:nvSpPr>
          <p:cNvPr id="30" name="Shape 28"/>
          <p:cNvSpPr/>
          <p:nvPr/>
        </p:nvSpPr>
        <p:spPr>
          <a:xfrm>
            <a:off x="6955384" y="3822192"/>
            <a:ext cx="0" cy="914400"/>
          </a:xfrm>
          <a:prstGeom prst="line">
            <a:avLst/>
          </a:prstGeom>
          <a:noFill/>
          <a:ln w="9525">
            <a:solidFill>
              <a:srgbClr val="1D2427"/>
            </a:solidFill>
            <a:prstDash val="solid"/>
          </a:ln>
        </p:spPr>
      </p:sp>
      <p:sp>
        <p:nvSpPr>
          <p:cNvPr id="31" name="Text 29"/>
          <p:cNvSpPr/>
          <p:nvPr/>
        </p:nvSpPr>
        <p:spPr>
          <a:xfrm>
            <a:off x="8765896" y="3840480"/>
            <a:ext cx="1536192" cy="274320"/>
          </a:xfrm>
          <a:prstGeom prst="rect">
            <a:avLst/>
          </a:prstGeom>
          <a:noFill/>
          <a:ln/>
        </p:spPr>
        <p:txBody>
          <a:bodyPr wrap="square" lIns="0" tIns="0" rIns="0" bIns="0" rtlCol="0" anchor="ctr"/>
          <a:lstStyle/>
          <a:p>
            <a:pPr algn="ctr" indent="0" marL="0">
              <a:buNone/>
            </a:pPr>
            <a:r>
              <a:rPr lang="en-US" sz="1000" dirty="0">
                <a:solidFill>
                  <a:srgbClr val="838E96"/>
                </a:solidFill>
                <a:latin typeface="Courier New" pitchFamily="34" charset="0"/>
                <a:ea typeface="Courier New" pitchFamily="34" charset="-122"/>
                <a:cs typeface="Courier New" pitchFamily="34" charset="-120"/>
              </a:rPr>
              <a:t>collection</a:t>
            </a:r>
            <a:endParaRPr lang="en-US" sz="1000" dirty="0"/>
          </a:p>
        </p:txBody>
      </p:sp>
      <p:sp>
        <p:nvSpPr>
          <p:cNvPr id="32" name="Text 30"/>
          <p:cNvSpPr/>
          <p:nvPr/>
        </p:nvSpPr>
        <p:spPr>
          <a:xfrm>
            <a:off x="8765896" y="4133088"/>
            <a:ext cx="1536192" cy="594360"/>
          </a:xfrm>
          <a:prstGeom prst="rect">
            <a:avLst/>
          </a:prstGeom>
          <a:noFill/>
          <a:ln/>
        </p:spPr>
        <p:txBody>
          <a:bodyPr wrap="square" lIns="0" tIns="0" rIns="0" bIns="0" rtlCol="0" anchor="t"/>
          <a:lstStyle/>
          <a:p>
            <a:pPr algn="ctr" indent="0" marL="0">
              <a:buNone/>
            </a:pPr>
            <a:r>
              <a:rPr lang="en-US" sz="1100" b="1" dirty="0">
                <a:solidFill>
                  <a:srgbClr val="EDEFF1"/>
                </a:solidFill>
                <a:latin typeface="Courier New" pitchFamily="34" charset="0"/>
                <a:ea typeface="Courier New" pitchFamily="34" charset="-122"/>
                <a:cs typeface="Courier New" pitchFamily="34" charset="-120"/>
              </a:rPr>
              <a:t>ragnarok.</a:t>
            </a:r>
            <a:endParaRPr lang="en-US" sz="1100" dirty="0"/>
          </a:p>
          <a:p>
            <a:pPr algn="ctr" indent="0" marL="0">
              <a:buNone/>
            </a:pPr>
            <a:r>
              <a:rPr lang="en-US" sz="1100" b="1" dirty="0">
                <a:solidFill>
                  <a:srgbClr val="EDEFF1"/>
                </a:solidFill>
                <a:latin typeface="Courier New" pitchFamily="34" charset="0"/>
                <a:ea typeface="Courier New" pitchFamily="34" charset="-122"/>
                <a:cs typeface="Courier New" pitchFamily="34" charset="-120"/>
              </a:rPr>
              <a:t>knowledge_base</a:t>
            </a:r>
            <a:endParaRPr lang="en-US" sz="1100" dirty="0"/>
          </a:p>
        </p:txBody>
      </p:sp>
      <p:sp>
        <p:nvSpPr>
          <p:cNvPr id="33" name="Shape 31"/>
          <p:cNvSpPr/>
          <p:nvPr/>
        </p:nvSpPr>
        <p:spPr>
          <a:xfrm>
            <a:off x="8674456" y="3822192"/>
            <a:ext cx="0" cy="914400"/>
          </a:xfrm>
          <a:prstGeom prst="line">
            <a:avLst/>
          </a:prstGeom>
          <a:noFill/>
          <a:ln w="9525">
            <a:solidFill>
              <a:srgbClr val="1D2427"/>
            </a:solidFill>
            <a:prstDash val="solid"/>
          </a:ln>
        </p:spPr>
      </p:sp>
      <p:sp>
        <p:nvSpPr>
          <p:cNvPr id="34" name="Shape 32"/>
          <p:cNvSpPr/>
          <p:nvPr/>
        </p:nvSpPr>
        <p:spPr>
          <a:xfrm>
            <a:off x="548640" y="5212080"/>
            <a:ext cx="11094415" cy="0"/>
          </a:xfrm>
          <a:prstGeom prst="line">
            <a:avLst/>
          </a:prstGeom>
          <a:noFill/>
          <a:ln w="9525">
            <a:solidFill>
              <a:srgbClr val="1D2427"/>
            </a:solidFill>
            <a:prstDash val="solid"/>
          </a:ln>
        </p:spPr>
      </p:sp>
      <p:sp>
        <p:nvSpPr>
          <p:cNvPr id="35" name="Text 33"/>
          <p:cNvSpPr/>
          <p:nvPr/>
        </p:nvSpPr>
        <p:spPr>
          <a:xfrm>
            <a:off x="548640" y="5394960"/>
            <a:ext cx="11094415" cy="457200"/>
          </a:xfrm>
          <a:prstGeom prst="rect">
            <a:avLst/>
          </a:prstGeom>
          <a:noFill/>
          <a:ln/>
        </p:spPr>
        <p:txBody>
          <a:bodyPr wrap="square" lIns="0" tIns="0" rIns="0" bIns="0" rtlCol="0" anchor="ctr"/>
          <a:lstStyle/>
          <a:p>
            <a:pPr algn="l" indent="0" marL="0">
              <a:buNone/>
            </a:pPr>
            <a:r>
              <a:rPr lang="en-US" sz="1200" b="1" dirty="0">
                <a:solidFill>
                  <a:srgbClr val="5A646A"/>
                </a:solidFill>
                <a:latin typeface="Courier New" pitchFamily="34" charset="0"/>
                <a:ea typeface="Courier New" pitchFamily="34" charset="-122"/>
                <a:cs typeface="Courier New" pitchFamily="34" charset="-120"/>
              </a:rPr>
              <a:t>note — </a:t>
            </a:r>
            <a:pPr algn="l" indent="0" marL="0">
              <a:buNone/>
            </a:pPr>
            <a:r>
              <a:rPr lang="en-US" sz="1200" dirty="0">
                <a:solidFill>
                  <a:srgbClr val="838E96"/>
                </a:solidFill>
                <a:latin typeface="Courier New" pitchFamily="34" charset="0"/>
                <a:ea typeface="Courier New" pitchFamily="34" charset="-122"/>
                <a:cs typeface="Courier New" pitchFamily="34" charset="-120"/>
              </a:rPr>
              <a:t>ingestion uses a Python helper script (W3Schools content → chunk → embed → Mongo). The RAG engine itself is C++.</a:t>
            </a:r>
            <a:endParaRPr lang="en-US" sz="1200" dirty="0"/>
          </a:p>
        </p:txBody>
      </p:sp>
      <p:sp>
        <p:nvSpPr>
          <p:cNvPr id="36" name="Text 34"/>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548640" y="411480"/>
            <a:ext cx="3657600" cy="274320"/>
          </a:xfrm>
          <a:prstGeom prst="rect">
            <a:avLst/>
          </a:prstGeom>
          <a:noFill/>
          <a:ln/>
        </p:spPr>
        <p:txBody>
          <a:bodyPr wrap="square" lIns="0" tIns="0" rIns="0" bIns="0" rtlCol="0" anchor="ctr"/>
          <a:lstStyle/>
          <a:p>
            <a:pPr algn="l" indent="0" marL="0">
              <a:buNone/>
            </a:pPr>
            <a:r>
              <a:rPr lang="en-US" sz="1100" spc="200" kern="0" dirty="0">
                <a:solidFill>
                  <a:srgbClr val="3FE0E8"/>
                </a:solidFill>
                <a:latin typeface="Courier New" pitchFamily="34" charset="0"/>
                <a:ea typeface="Courier New" pitchFamily="34" charset="-122"/>
                <a:cs typeface="Courier New" pitchFamily="34" charset="-120"/>
              </a:rPr>
              <a:t>06 — ABSTRACTION</a:t>
            </a:r>
            <a:endParaRPr lang="en-US" sz="1100" dirty="0"/>
          </a:p>
        </p:txBody>
      </p:sp>
      <p:sp>
        <p:nvSpPr>
          <p:cNvPr id="3" name="Text 1"/>
          <p:cNvSpPr/>
          <p:nvPr/>
        </p:nvSpPr>
        <p:spPr>
          <a:xfrm>
            <a:off x="548640" y="658368"/>
            <a:ext cx="7315200" cy="320040"/>
          </a:xfrm>
          <a:prstGeom prst="rect">
            <a:avLst/>
          </a:prstGeom>
          <a:noFill/>
          <a:ln/>
        </p:spPr>
        <p:txBody>
          <a:bodyPr wrap="square" lIns="0" tIns="0" rIns="0" bIns="0" rtlCol="0" anchor="ctr"/>
          <a:lstStyle/>
          <a:p>
            <a:pPr indent="0" marL="0">
              <a:buNone/>
            </a:pPr>
            <a:r>
              <a:rPr lang="en-US" sz="1100" dirty="0">
                <a:solidFill>
                  <a:srgbClr val="838E96"/>
                </a:solidFill>
                <a:latin typeface="Courier New" pitchFamily="34" charset="0"/>
                <a:ea typeface="Courier New" pitchFamily="34" charset="-122"/>
                <a:cs typeface="Courier New" pitchFamily="34" charset="-120"/>
              </a:rPr>
              <a:t>frameworks vs RAGNAROK.CPP</a:t>
            </a:r>
            <a:endParaRPr lang="en-US" sz="1100" dirty="0"/>
          </a:p>
        </p:txBody>
      </p:sp>
      <p:sp>
        <p:nvSpPr>
          <p:cNvPr id="4" name="Shape 2"/>
          <p:cNvSpPr/>
          <p:nvPr/>
        </p:nvSpPr>
        <p:spPr>
          <a:xfrm>
            <a:off x="548640" y="1024128"/>
            <a:ext cx="11094415" cy="0"/>
          </a:xfrm>
          <a:prstGeom prst="line">
            <a:avLst/>
          </a:prstGeom>
          <a:noFill/>
          <a:ln w="9525">
            <a:solidFill>
              <a:srgbClr val="1D2427"/>
            </a:solidFill>
            <a:prstDash val="solid"/>
          </a:ln>
        </p:spPr>
      </p:sp>
      <p:sp>
        <p:nvSpPr>
          <p:cNvPr id="5" name="Shape 3"/>
          <p:cNvSpPr/>
          <p:nvPr/>
        </p:nvSpPr>
        <p:spPr>
          <a:xfrm>
            <a:off x="548640" y="1371600"/>
            <a:ext cx="5272888" cy="4160520"/>
          </a:xfrm>
          <a:prstGeom prst="rect">
            <a:avLst/>
          </a:prstGeom>
          <a:solidFill>
            <a:srgbClr val="12171A"/>
          </a:solidFill>
          <a:ln w="12700">
            <a:solidFill>
              <a:srgbClr val="2A3236"/>
            </a:solidFill>
            <a:prstDash val="solid"/>
          </a:ln>
        </p:spPr>
      </p:sp>
      <p:sp>
        <p:nvSpPr>
          <p:cNvPr id="6" name="Text 4"/>
          <p:cNvSpPr/>
          <p:nvPr/>
        </p:nvSpPr>
        <p:spPr>
          <a:xfrm>
            <a:off x="548640" y="1600200"/>
            <a:ext cx="5272888" cy="365760"/>
          </a:xfrm>
          <a:prstGeom prst="rect">
            <a:avLst/>
          </a:prstGeom>
          <a:noFill/>
          <a:ln/>
        </p:spPr>
        <p:txBody>
          <a:bodyPr wrap="square" lIns="0" tIns="0" rIns="0" bIns="0" rtlCol="0" anchor="ctr"/>
          <a:lstStyle/>
          <a:p>
            <a:pPr algn="ctr" indent="0" marL="0">
              <a:buNone/>
            </a:pPr>
            <a:r>
              <a:rPr lang="en-US" sz="1400" b="1" dirty="0">
                <a:solidFill>
                  <a:srgbClr val="838E96"/>
                </a:solidFill>
                <a:latin typeface="Courier New" pitchFamily="34" charset="0"/>
                <a:ea typeface="Courier New" pitchFamily="34" charset="-122"/>
                <a:cs typeface="Courier New" pitchFamily="34" charset="-120"/>
              </a:rPr>
              <a:t>HIGH-LEVEL RAG FRAMEWORK</a:t>
            </a:r>
            <a:endParaRPr lang="en-US" sz="1400" dirty="0"/>
          </a:p>
        </p:txBody>
      </p:sp>
      <p:sp>
        <p:nvSpPr>
          <p:cNvPr id="7" name="Shape 5"/>
          <p:cNvSpPr/>
          <p:nvPr/>
        </p:nvSpPr>
        <p:spPr>
          <a:xfrm>
            <a:off x="1005840" y="2194560"/>
            <a:ext cx="4358488" cy="2377440"/>
          </a:xfrm>
          <a:prstGeom prst="rect">
            <a:avLst/>
          </a:prstGeom>
          <a:solidFill>
            <a:srgbClr val="0D1214"/>
          </a:solidFill>
          <a:ln w="9525">
            <a:solidFill>
              <a:srgbClr val="1D2427"/>
            </a:solidFill>
            <a:prstDash val="dash"/>
          </a:ln>
        </p:spPr>
      </p:sp>
      <p:sp>
        <p:nvSpPr>
          <p:cNvPr id="8" name="Text 6"/>
          <p:cNvSpPr/>
          <p:nvPr/>
        </p:nvSpPr>
        <p:spPr>
          <a:xfrm>
            <a:off x="1143000" y="2286000"/>
            <a:ext cx="4084168" cy="274320"/>
          </a:xfrm>
          <a:prstGeom prst="rect">
            <a:avLst/>
          </a:prstGeom>
          <a:noFill/>
          <a:ln/>
        </p:spPr>
        <p:txBody>
          <a:bodyPr wrap="square" lIns="0" tIns="0" rIns="0" bIns="0" rtlCol="0" anchor="ctr"/>
          <a:lstStyle/>
          <a:p>
            <a:pPr algn="l" indent="0" marL="0">
              <a:buNone/>
            </a:pPr>
            <a:r>
              <a:rPr lang="en-US" sz="1000" dirty="0">
                <a:solidFill>
                  <a:srgbClr val="5A646A"/>
                </a:solidFill>
                <a:latin typeface="Courier New" pitchFamily="34" charset="0"/>
                <a:ea typeface="Courier New" pitchFamily="34" charset="-122"/>
                <a:cs typeface="Courier New" pitchFamily="34" charset="-120"/>
              </a:rPr>
              <a:t>[ HIDDEN ]</a:t>
            </a:r>
            <a:endParaRPr lang="en-US" sz="1000" dirty="0"/>
          </a:p>
        </p:txBody>
      </p:sp>
      <p:sp>
        <p:nvSpPr>
          <p:cNvPr id="9" name="Text 7"/>
          <p:cNvSpPr/>
          <p:nvPr/>
        </p:nvSpPr>
        <p:spPr>
          <a:xfrm>
            <a:off x="1143000" y="2651760"/>
            <a:ext cx="4084168" cy="320040"/>
          </a:xfrm>
          <a:prstGeom prst="rect">
            <a:avLst/>
          </a:prstGeom>
          <a:noFill/>
          <a:ln/>
        </p:spPr>
        <p:txBody>
          <a:bodyPr wrap="square" lIns="0" tIns="0" rIns="0" bIns="0" rtlCol="0" anchor="ctr"/>
          <a:lstStyle/>
          <a:p>
            <a:pPr algn="ctr" indent="0" marL="0">
              <a:buNone/>
            </a:pPr>
            <a:r>
              <a:rPr lang="en-US" sz="1050" dirty="0">
                <a:solidFill>
                  <a:srgbClr val="5A646A"/>
                </a:solidFill>
                <a:latin typeface="Courier New" pitchFamily="34" charset="0"/>
                <a:ea typeface="Courier New" pitchFamily="34" charset="-122"/>
                <a:cs typeface="Courier New" pitchFamily="34" charset="-120"/>
              </a:rPr>
              <a:t>INGESTION</a:t>
            </a:r>
            <a:endParaRPr lang="en-US" sz="1050" dirty="0"/>
          </a:p>
        </p:txBody>
      </p:sp>
      <p:sp>
        <p:nvSpPr>
          <p:cNvPr id="10" name="Text 8"/>
          <p:cNvSpPr/>
          <p:nvPr/>
        </p:nvSpPr>
        <p:spPr>
          <a:xfrm>
            <a:off x="1143000" y="3017520"/>
            <a:ext cx="4084168" cy="320040"/>
          </a:xfrm>
          <a:prstGeom prst="rect">
            <a:avLst/>
          </a:prstGeom>
          <a:noFill/>
          <a:ln/>
        </p:spPr>
        <p:txBody>
          <a:bodyPr wrap="square" lIns="0" tIns="0" rIns="0" bIns="0" rtlCol="0" anchor="ctr"/>
          <a:lstStyle/>
          <a:p>
            <a:pPr algn="ctr" indent="0" marL="0">
              <a:buNone/>
            </a:pPr>
            <a:r>
              <a:rPr lang="en-US" sz="1050" dirty="0">
                <a:solidFill>
                  <a:srgbClr val="5A646A"/>
                </a:solidFill>
                <a:latin typeface="Courier New" pitchFamily="34" charset="0"/>
                <a:ea typeface="Courier New" pitchFamily="34" charset="-122"/>
                <a:cs typeface="Courier New" pitchFamily="34" charset="-120"/>
              </a:rPr>
              <a:t>CONNECTORS</a:t>
            </a:r>
            <a:endParaRPr lang="en-US" sz="1050" dirty="0"/>
          </a:p>
        </p:txBody>
      </p:sp>
      <p:sp>
        <p:nvSpPr>
          <p:cNvPr id="11" name="Text 9"/>
          <p:cNvSpPr/>
          <p:nvPr/>
        </p:nvSpPr>
        <p:spPr>
          <a:xfrm>
            <a:off x="1143000" y="3383280"/>
            <a:ext cx="4084168" cy="320040"/>
          </a:xfrm>
          <a:prstGeom prst="rect">
            <a:avLst/>
          </a:prstGeom>
          <a:noFill/>
          <a:ln/>
        </p:spPr>
        <p:txBody>
          <a:bodyPr wrap="square" lIns="0" tIns="0" rIns="0" bIns="0" rtlCol="0" anchor="ctr"/>
          <a:lstStyle/>
          <a:p>
            <a:pPr algn="ctr" indent="0" marL="0">
              <a:buNone/>
            </a:pPr>
            <a:r>
              <a:rPr lang="en-US" sz="1050" dirty="0">
                <a:solidFill>
                  <a:srgbClr val="5A646A"/>
                </a:solidFill>
                <a:latin typeface="Courier New" pitchFamily="34" charset="0"/>
                <a:ea typeface="Courier New" pitchFamily="34" charset="-122"/>
                <a:cs typeface="Courier New" pitchFamily="34" charset="-120"/>
              </a:rPr>
              <a:t>RETRIEVAL</a:t>
            </a:r>
            <a:endParaRPr lang="en-US" sz="1050" dirty="0"/>
          </a:p>
        </p:txBody>
      </p:sp>
      <p:sp>
        <p:nvSpPr>
          <p:cNvPr id="12" name="Text 10"/>
          <p:cNvSpPr/>
          <p:nvPr/>
        </p:nvSpPr>
        <p:spPr>
          <a:xfrm>
            <a:off x="1143000" y="3749040"/>
            <a:ext cx="4084168" cy="320040"/>
          </a:xfrm>
          <a:prstGeom prst="rect">
            <a:avLst/>
          </a:prstGeom>
          <a:noFill/>
          <a:ln/>
        </p:spPr>
        <p:txBody>
          <a:bodyPr wrap="square" lIns="0" tIns="0" rIns="0" bIns="0" rtlCol="0" anchor="ctr"/>
          <a:lstStyle/>
          <a:p>
            <a:pPr algn="ctr" indent="0" marL="0">
              <a:buNone/>
            </a:pPr>
            <a:r>
              <a:rPr lang="en-US" sz="1050" dirty="0">
                <a:solidFill>
                  <a:srgbClr val="5A646A"/>
                </a:solidFill>
                <a:latin typeface="Courier New" pitchFamily="34" charset="0"/>
                <a:ea typeface="Courier New" pitchFamily="34" charset="-122"/>
                <a:cs typeface="Courier New" pitchFamily="34" charset="-120"/>
              </a:rPr>
              <a:t>ORCHESTRATION</a:t>
            </a:r>
            <a:endParaRPr lang="en-US" sz="1050" dirty="0"/>
          </a:p>
        </p:txBody>
      </p:sp>
      <p:sp>
        <p:nvSpPr>
          <p:cNvPr id="13" name="Text 11"/>
          <p:cNvSpPr/>
          <p:nvPr/>
        </p:nvSpPr>
        <p:spPr>
          <a:xfrm>
            <a:off x="1143000" y="4114800"/>
            <a:ext cx="4084168" cy="320040"/>
          </a:xfrm>
          <a:prstGeom prst="rect">
            <a:avLst/>
          </a:prstGeom>
          <a:noFill/>
          <a:ln/>
        </p:spPr>
        <p:txBody>
          <a:bodyPr wrap="square" lIns="0" tIns="0" rIns="0" bIns="0" rtlCol="0" anchor="ctr"/>
          <a:lstStyle/>
          <a:p>
            <a:pPr algn="ctr" indent="0" marL="0">
              <a:buNone/>
            </a:pPr>
            <a:r>
              <a:rPr lang="en-US" sz="1050" dirty="0">
                <a:solidFill>
                  <a:srgbClr val="5A646A"/>
                </a:solidFill>
                <a:latin typeface="Courier New" pitchFamily="34" charset="0"/>
                <a:ea typeface="Courier New" pitchFamily="34" charset="-122"/>
                <a:cs typeface="Courier New" pitchFamily="34" charset="-120"/>
              </a:rPr>
              <a:t>PROMPTING</a:t>
            </a:r>
            <a:endParaRPr lang="en-US" sz="1050" dirty="0"/>
          </a:p>
        </p:txBody>
      </p:sp>
      <p:sp>
        <p:nvSpPr>
          <p:cNvPr id="14" name="Text 12"/>
          <p:cNvSpPr/>
          <p:nvPr/>
        </p:nvSpPr>
        <p:spPr>
          <a:xfrm>
            <a:off x="548640" y="4828032"/>
            <a:ext cx="5272888" cy="320040"/>
          </a:xfrm>
          <a:prstGeom prst="rect">
            <a:avLst/>
          </a:prstGeom>
          <a:noFill/>
          <a:ln/>
        </p:spPr>
        <p:txBody>
          <a:bodyPr wrap="square" lIns="0" tIns="0" rIns="0" bIns="0" rtlCol="0" anchor="ctr"/>
          <a:lstStyle/>
          <a:p>
            <a:pPr algn="ctr" indent="0" marL="0">
              <a:buNone/>
            </a:pPr>
            <a:r>
              <a:rPr lang="en-US" sz="1050" dirty="0">
                <a:solidFill>
                  <a:srgbClr val="838E96"/>
                </a:solidFill>
                <a:latin typeface="Courier New" pitchFamily="34" charset="0"/>
                <a:ea typeface="Courier New" pitchFamily="34" charset="-122"/>
                <a:cs typeface="Courier New" pitchFamily="34" charset="-120"/>
              </a:rPr>
              <a:t>developer calls: retriever.query()</a:t>
            </a:r>
            <a:endParaRPr lang="en-US" sz="1050" dirty="0"/>
          </a:p>
        </p:txBody>
      </p:sp>
      <p:sp>
        <p:nvSpPr>
          <p:cNvPr id="15" name="Text 13"/>
          <p:cNvSpPr/>
          <p:nvPr/>
        </p:nvSpPr>
        <p:spPr>
          <a:xfrm>
            <a:off x="548640" y="5074920"/>
            <a:ext cx="5272888" cy="320040"/>
          </a:xfrm>
          <a:prstGeom prst="rect">
            <a:avLst/>
          </a:prstGeom>
          <a:noFill/>
          <a:ln/>
        </p:spPr>
        <p:txBody>
          <a:bodyPr wrap="square" lIns="0" tIns="0" rIns="0" bIns="0" rtlCol="0" anchor="ctr"/>
          <a:lstStyle/>
          <a:p>
            <a:pPr algn="ctr" indent="0" marL="0">
              <a:buNone/>
            </a:pPr>
            <a:r>
              <a:rPr lang="en-US" sz="1050" dirty="0">
                <a:solidFill>
                  <a:srgbClr val="838E96"/>
                </a:solidFill>
                <a:latin typeface="Courier New" pitchFamily="34" charset="0"/>
                <a:ea typeface="Courier New" pitchFamily="34" charset="-122"/>
                <a:cs typeface="Courier New" pitchFamily="34" charset="-120"/>
              </a:rPr>
              <a:t>LESS WORK / MORE ABSTRACTION</a:t>
            </a:r>
            <a:endParaRPr lang="en-US" sz="1050" dirty="0"/>
          </a:p>
        </p:txBody>
      </p:sp>
      <p:sp>
        <p:nvSpPr>
          <p:cNvPr id="16" name="Shape 14"/>
          <p:cNvSpPr/>
          <p:nvPr/>
        </p:nvSpPr>
        <p:spPr>
          <a:xfrm>
            <a:off x="6370168" y="1371600"/>
            <a:ext cx="5272888" cy="4160520"/>
          </a:xfrm>
          <a:prstGeom prst="rect">
            <a:avLst/>
          </a:prstGeom>
          <a:solidFill>
            <a:srgbClr val="0D1214"/>
          </a:solidFill>
          <a:ln w="15875">
            <a:solidFill>
              <a:srgbClr val="3FE0E8"/>
            </a:solidFill>
            <a:prstDash val="solid"/>
          </a:ln>
        </p:spPr>
      </p:sp>
      <p:sp>
        <p:nvSpPr>
          <p:cNvPr id="17" name="Text 15"/>
          <p:cNvSpPr/>
          <p:nvPr/>
        </p:nvSpPr>
        <p:spPr>
          <a:xfrm>
            <a:off x="6370168" y="1600200"/>
            <a:ext cx="5272888" cy="365760"/>
          </a:xfrm>
          <a:prstGeom prst="rect">
            <a:avLst/>
          </a:prstGeom>
          <a:noFill/>
          <a:ln/>
        </p:spPr>
        <p:txBody>
          <a:bodyPr wrap="square" lIns="0" tIns="0" rIns="0" bIns="0" rtlCol="0" anchor="ctr"/>
          <a:lstStyle/>
          <a:p>
            <a:pPr algn="ctr" indent="0" marL="0">
              <a:buNone/>
            </a:pPr>
            <a:r>
              <a:rPr lang="en-US" sz="1400" b="1" dirty="0">
                <a:solidFill>
                  <a:srgbClr val="3FE0E8"/>
                </a:solidFill>
                <a:latin typeface="Courier New" pitchFamily="34" charset="0"/>
                <a:ea typeface="Courier New" pitchFamily="34" charset="-122"/>
                <a:cs typeface="Courier New" pitchFamily="34" charset="-120"/>
              </a:rPr>
              <a:t>RAGNAROK.CPP</a:t>
            </a:r>
            <a:endParaRPr lang="en-US" sz="1400" dirty="0"/>
          </a:p>
        </p:txBody>
      </p:sp>
      <p:sp>
        <p:nvSpPr>
          <p:cNvPr id="18" name="Shape 16"/>
          <p:cNvSpPr/>
          <p:nvPr/>
        </p:nvSpPr>
        <p:spPr>
          <a:xfrm>
            <a:off x="6873088" y="2286000"/>
            <a:ext cx="2087804" cy="457200"/>
          </a:xfrm>
          <a:prstGeom prst="rect">
            <a:avLst/>
          </a:prstGeom>
          <a:solidFill>
            <a:srgbClr val="161C1F"/>
          </a:solidFill>
          <a:ln w="9525">
            <a:solidFill>
              <a:srgbClr val="2A3236"/>
            </a:solidFill>
            <a:prstDash val="solid"/>
          </a:ln>
        </p:spPr>
      </p:sp>
      <p:sp>
        <p:nvSpPr>
          <p:cNvPr id="19" name="Text 17"/>
          <p:cNvSpPr/>
          <p:nvPr/>
        </p:nvSpPr>
        <p:spPr>
          <a:xfrm>
            <a:off x="6873088" y="2286000"/>
            <a:ext cx="2087804" cy="457200"/>
          </a:xfrm>
          <a:prstGeom prst="rect">
            <a:avLst/>
          </a:prstGeom>
          <a:noFill/>
          <a:ln/>
        </p:spPr>
        <p:txBody>
          <a:bodyPr wrap="square" lIns="0" tIns="0" rIns="0" bIns="0" rtlCol="0" anchor="ctr"/>
          <a:lstStyle/>
          <a:p>
            <a:pPr algn="ctr" indent="0" marL="0">
              <a:buNone/>
            </a:pPr>
            <a:r>
              <a:rPr lang="en-US" sz="950" dirty="0">
                <a:solidFill>
                  <a:srgbClr val="EDEFF1"/>
                </a:solidFill>
                <a:latin typeface="Courier New" pitchFamily="34" charset="0"/>
                <a:ea typeface="Courier New" pitchFamily="34" charset="-122"/>
                <a:cs typeface="Courier New" pitchFamily="34" charset="-120"/>
              </a:rPr>
              <a:t>HTTP</a:t>
            </a:r>
            <a:endParaRPr lang="en-US" sz="950" dirty="0"/>
          </a:p>
        </p:txBody>
      </p:sp>
      <p:sp>
        <p:nvSpPr>
          <p:cNvPr id="20" name="Shape 18"/>
          <p:cNvSpPr/>
          <p:nvPr/>
        </p:nvSpPr>
        <p:spPr>
          <a:xfrm>
            <a:off x="9052331" y="2286000"/>
            <a:ext cx="2087804" cy="457200"/>
          </a:xfrm>
          <a:prstGeom prst="rect">
            <a:avLst/>
          </a:prstGeom>
          <a:solidFill>
            <a:srgbClr val="161C1F"/>
          </a:solidFill>
          <a:ln w="9525">
            <a:solidFill>
              <a:srgbClr val="2A3236"/>
            </a:solidFill>
            <a:prstDash val="solid"/>
          </a:ln>
        </p:spPr>
      </p:sp>
      <p:sp>
        <p:nvSpPr>
          <p:cNvPr id="21" name="Text 19"/>
          <p:cNvSpPr/>
          <p:nvPr/>
        </p:nvSpPr>
        <p:spPr>
          <a:xfrm>
            <a:off x="9052331" y="2286000"/>
            <a:ext cx="2087804" cy="457200"/>
          </a:xfrm>
          <a:prstGeom prst="rect">
            <a:avLst/>
          </a:prstGeom>
          <a:noFill/>
          <a:ln/>
        </p:spPr>
        <p:txBody>
          <a:bodyPr wrap="square" lIns="0" tIns="0" rIns="0" bIns="0" rtlCol="0" anchor="ctr"/>
          <a:lstStyle/>
          <a:p>
            <a:pPr algn="ctr" indent="0" marL="0">
              <a:buNone/>
            </a:pPr>
            <a:r>
              <a:rPr lang="en-US" sz="950" dirty="0">
                <a:solidFill>
                  <a:srgbClr val="EDEFF1"/>
                </a:solidFill>
                <a:latin typeface="Courier New" pitchFamily="34" charset="0"/>
                <a:ea typeface="Courier New" pitchFamily="34" charset="-122"/>
                <a:cs typeface="Courier New" pitchFamily="34" charset="-120"/>
              </a:rPr>
              <a:t>JSON</a:t>
            </a:r>
            <a:endParaRPr lang="en-US" sz="950" dirty="0"/>
          </a:p>
        </p:txBody>
      </p:sp>
      <p:sp>
        <p:nvSpPr>
          <p:cNvPr id="22" name="Shape 20"/>
          <p:cNvSpPr/>
          <p:nvPr/>
        </p:nvSpPr>
        <p:spPr>
          <a:xfrm>
            <a:off x="6873088" y="2871216"/>
            <a:ext cx="2087804" cy="457200"/>
          </a:xfrm>
          <a:prstGeom prst="rect">
            <a:avLst/>
          </a:prstGeom>
          <a:solidFill>
            <a:srgbClr val="161C1F"/>
          </a:solidFill>
          <a:ln w="9525">
            <a:solidFill>
              <a:srgbClr val="2A3236"/>
            </a:solidFill>
            <a:prstDash val="solid"/>
          </a:ln>
        </p:spPr>
      </p:sp>
      <p:sp>
        <p:nvSpPr>
          <p:cNvPr id="23" name="Text 21"/>
          <p:cNvSpPr/>
          <p:nvPr/>
        </p:nvSpPr>
        <p:spPr>
          <a:xfrm>
            <a:off x="6873088" y="2871216"/>
            <a:ext cx="2087804" cy="457200"/>
          </a:xfrm>
          <a:prstGeom prst="rect">
            <a:avLst/>
          </a:prstGeom>
          <a:noFill/>
          <a:ln/>
        </p:spPr>
        <p:txBody>
          <a:bodyPr wrap="square" lIns="0" tIns="0" rIns="0" bIns="0" rtlCol="0" anchor="ctr"/>
          <a:lstStyle/>
          <a:p>
            <a:pPr algn="ctr" indent="0" marL="0">
              <a:buNone/>
            </a:pPr>
            <a:r>
              <a:rPr lang="en-US" sz="950" dirty="0">
                <a:solidFill>
                  <a:srgbClr val="EDEFF1"/>
                </a:solidFill>
                <a:latin typeface="Courier New" pitchFamily="34" charset="0"/>
                <a:ea typeface="Courier New" pitchFamily="34" charset="-122"/>
                <a:cs typeface="Courier New" pitchFamily="34" charset="-120"/>
              </a:rPr>
              <a:t>BSON</a:t>
            </a:r>
            <a:endParaRPr lang="en-US" sz="950" dirty="0"/>
          </a:p>
        </p:txBody>
      </p:sp>
      <p:sp>
        <p:nvSpPr>
          <p:cNvPr id="24" name="Shape 22"/>
          <p:cNvSpPr/>
          <p:nvPr/>
        </p:nvSpPr>
        <p:spPr>
          <a:xfrm>
            <a:off x="9052331" y="2871216"/>
            <a:ext cx="2087804" cy="457200"/>
          </a:xfrm>
          <a:prstGeom prst="rect">
            <a:avLst/>
          </a:prstGeom>
          <a:solidFill>
            <a:srgbClr val="161C1F"/>
          </a:solidFill>
          <a:ln w="9525">
            <a:solidFill>
              <a:srgbClr val="2A3236"/>
            </a:solidFill>
            <a:prstDash val="solid"/>
          </a:ln>
        </p:spPr>
      </p:sp>
      <p:sp>
        <p:nvSpPr>
          <p:cNvPr id="25" name="Text 23"/>
          <p:cNvSpPr/>
          <p:nvPr/>
        </p:nvSpPr>
        <p:spPr>
          <a:xfrm>
            <a:off x="9052331" y="2871216"/>
            <a:ext cx="2087804" cy="457200"/>
          </a:xfrm>
          <a:prstGeom prst="rect">
            <a:avLst/>
          </a:prstGeom>
          <a:noFill/>
          <a:ln/>
        </p:spPr>
        <p:txBody>
          <a:bodyPr wrap="square" lIns="0" tIns="0" rIns="0" bIns="0" rtlCol="0" anchor="ctr"/>
          <a:lstStyle/>
          <a:p>
            <a:pPr algn="ctr" indent="0" marL="0">
              <a:buNone/>
            </a:pPr>
            <a:r>
              <a:rPr lang="en-US" sz="950" dirty="0">
                <a:solidFill>
                  <a:srgbClr val="EDEFF1"/>
                </a:solidFill>
                <a:latin typeface="Courier New" pitchFamily="34" charset="0"/>
                <a:ea typeface="Courier New" pitchFamily="34" charset="-122"/>
                <a:cs typeface="Courier New" pitchFamily="34" charset="-120"/>
              </a:rPr>
              <a:t>CONNECTIONS</a:t>
            </a:r>
            <a:endParaRPr lang="en-US" sz="950" dirty="0"/>
          </a:p>
        </p:txBody>
      </p:sp>
      <p:sp>
        <p:nvSpPr>
          <p:cNvPr id="26" name="Shape 24"/>
          <p:cNvSpPr/>
          <p:nvPr/>
        </p:nvSpPr>
        <p:spPr>
          <a:xfrm>
            <a:off x="6873088" y="3456432"/>
            <a:ext cx="2087804" cy="457200"/>
          </a:xfrm>
          <a:prstGeom prst="rect">
            <a:avLst/>
          </a:prstGeom>
          <a:solidFill>
            <a:srgbClr val="161C1F"/>
          </a:solidFill>
          <a:ln w="9525">
            <a:solidFill>
              <a:srgbClr val="2A3236"/>
            </a:solidFill>
            <a:prstDash val="solid"/>
          </a:ln>
        </p:spPr>
      </p:sp>
      <p:sp>
        <p:nvSpPr>
          <p:cNvPr id="27" name="Text 25"/>
          <p:cNvSpPr/>
          <p:nvPr/>
        </p:nvSpPr>
        <p:spPr>
          <a:xfrm>
            <a:off x="6873088" y="3456432"/>
            <a:ext cx="2087804" cy="457200"/>
          </a:xfrm>
          <a:prstGeom prst="rect">
            <a:avLst/>
          </a:prstGeom>
          <a:noFill/>
          <a:ln/>
        </p:spPr>
        <p:txBody>
          <a:bodyPr wrap="square" lIns="0" tIns="0" rIns="0" bIns="0" rtlCol="0" anchor="ctr"/>
          <a:lstStyle/>
          <a:p>
            <a:pPr algn="ctr" indent="0" marL="0">
              <a:buNone/>
            </a:pPr>
            <a:r>
              <a:rPr lang="en-US" sz="950" dirty="0">
                <a:solidFill>
                  <a:srgbClr val="EDEFF1"/>
                </a:solidFill>
                <a:latin typeface="Courier New" pitchFamily="34" charset="0"/>
                <a:ea typeface="Courier New" pitchFamily="34" charset="-122"/>
                <a:cs typeface="Courier New" pitchFamily="34" charset="-120"/>
              </a:rPr>
              <a:t>RESOURCE LIFETIME</a:t>
            </a:r>
            <a:endParaRPr lang="en-US" sz="950" dirty="0"/>
          </a:p>
        </p:txBody>
      </p:sp>
      <p:sp>
        <p:nvSpPr>
          <p:cNvPr id="28" name="Shape 26"/>
          <p:cNvSpPr/>
          <p:nvPr/>
        </p:nvSpPr>
        <p:spPr>
          <a:xfrm>
            <a:off x="9052331" y="3456432"/>
            <a:ext cx="2087804" cy="457200"/>
          </a:xfrm>
          <a:prstGeom prst="rect">
            <a:avLst/>
          </a:prstGeom>
          <a:solidFill>
            <a:srgbClr val="161C1F"/>
          </a:solidFill>
          <a:ln w="9525">
            <a:solidFill>
              <a:srgbClr val="2A3236"/>
            </a:solidFill>
            <a:prstDash val="solid"/>
          </a:ln>
        </p:spPr>
      </p:sp>
      <p:sp>
        <p:nvSpPr>
          <p:cNvPr id="29" name="Text 27"/>
          <p:cNvSpPr/>
          <p:nvPr/>
        </p:nvSpPr>
        <p:spPr>
          <a:xfrm>
            <a:off x="9052331" y="3456432"/>
            <a:ext cx="2087804" cy="457200"/>
          </a:xfrm>
          <a:prstGeom prst="rect">
            <a:avLst/>
          </a:prstGeom>
          <a:noFill/>
          <a:ln/>
        </p:spPr>
        <p:txBody>
          <a:bodyPr wrap="square" lIns="0" tIns="0" rIns="0" bIns="0" rtlCol="0" anchor="ctr"/>
          <a:lstStyle/>
          <a:p>
            <a:pPr algn="ctr" indent="0" marL="0">
              <a:buNone/>
            </a:pPr>
            <a:r>
              <a:rPr lang="en-US" sz="950" dirty="0">
                <a:solidFill>
                  <a:srgbClr val="EDEFF1"/>
                </a:solidFill>
                <a:latin typeface="Courier New" pitchFamily="34" charset="0"/>
                <a:ea typeface="Courier New" pitchFamily="34" charset="-122"/>
                <a:cs typeface="Courier New" pitchFamily="34" charset="-120"/>
              </a:rPr>
              <a:t>VECTOR SEARCH</a:t>
            </a:r>
            <a:endParaRPr lang="en-US" sz="950" dirty="0"/>
          </a:p>
        </p:txBody>
      </p:sp>
      <p:sp>
        <p:nvSpPr>
          <p:cNvPr id="30" name="Shape 28"/>
          <p:cNvSpPr/>
          <p:nvPr/>
        </p:nvSpPr>
        <p:spPr>
          <a:xfrm>
            <a:off x="6873088" y="4041648"/>
            <a:ext cx="2087804" cy="457200"/>
          </a:xfrm>
          <a:prstGeom prst="rect">
            <a:avLst/>
          </a:prstGeom>
          <a:solidFill>
            <a:srgbClr val="161C1F"/>
          </a:solidFill>
          <a:ln w="9525">
            <a:solidFill>
              <a:srgbClr val="2A3236"/>
            </a:solidFill>
            <a:prstDash val="solid"/>
          </a:ln>
        </p:spPr>
      </p:sp>
      <p:sp>
        <p:nvSpPr>
          <p:cNvPr id="31" name="Text 29"/>
          <p:cNvSpPr/>
          <p:nvPr/>
        </p:nvSpPr>
        <p:spPr>
          <a:xfrm>
            <a:off x="6873088" y="4041648"/>
            <a:ext cx="2087804" cy="457200"/>
          </a:xfrm>
          <a:prstGeom prst="rect">
            <a:avLst/>
          </a:prstGeom>
          <a:noFill/>
          <a:ln/>
        </p:spPr>
        <p:txBody>
          <a:bodyPr wrap="square" lIns="0" tIns="0" rIns="0" bIns="0" rtlCol="0" anchor="ctr"/>
          <a:lstStyle/>
          <a:p>
            <a:pPr algn="ctr" indent="0" marL="0">
              <a:buNone/>
            </a:pPr>
            <a:r>
              <a:rPr lang="en-US" sz="950" dirty="0">
                <a:solidFill>
                  <a:srgbClr val="EDEFF1"/>
                </a:solidFill>
                <a:latin typeface="Courier New" pitchFamily="34" charset="0"/>
                <a:ea typeface="Courier New" pitchFamily="34" charset="-122"/>
                <a:cs typeface="Courier New" pitchFamily="34" charset="-120"/>
              </a:rPr>
              <a:t>ORCHESTRATION</a:t>
            </a:r>
            <a:endParaRPr lang="en-US" sz="950" dirty="0"/>
          </a:p>
        </p:txBody>
      </p:sp>
      <p:sp>
        <p:nvSpPr>
          <p:cNvPr id="32" name="Text 30"/>
          <p:cNvSpPr/>
          <p:nvPr/>
        </p:nvSpPr>
        <p:spPr>
          <a:xfrm>
            <a:off x="6370168" y="4736592"/>
            <a:ext cx="5272888" cy="320040"/>
          </a:xfrm>
          <a:prstGeom prst="rect">
            <a:avLst/>
          </a:prstGeom>
          <a:noFill/>
          <a:ln/>
        </p:spPr>
        <p:txBody>
          <a:bodyPr wrap="square" lIns="0" tIns="0" rIns="0" bIns="0" rtlCol="0" anchor="ctr"/>
          <a:lstStyle/>
          <a:p>
            <a:pPr algn="ctr" indent="0" marL="0">
              <a:buNone/>
            </a:pPr>
            <a:r>
              <a:rPr lang="en-US" sz="1000" dirty="0">
                <a:solidFill>
                  <a:srgbClr val="838E96"/>
                </a:solidFill>
                <a:latin typeface="Courier New" pitchFamily="34" charset="0"/>
                <a:ea typeface="Courier New" pitchFamily="34" charset="-122"/>
                <a:cs typeface="Courier New" pitchFamily="34" charset="-120"/>
              </a:rPr>
              <a:t>developer writes: cpr::Post(...), mongocxx::pipeline</a:t>
            </a:r>
            <a:endParaRPr lang="en-US" sz="1000" dirty="0"/>
          </a:p>
        </p:txBody>
      </p:sp>
      <p:sp>
        <p:nvSpPr>
          <p:cNvPr id="33" name="Text 31"/>
          <p:cNvSpPr/>
          <p:nvPr/>
        </p:nvSpPr>
        <p:spPr>
          <a:xfrm>
            <a:off x="6370168" y="5074920"/>
            <a:ext cx="5272888" cy="320040"/>
          </a:xfrm>
          <a:prstGeom prst="rect">
            <a:avLst/>
          </a:prstGeom>
          <a:noFill/>
          <a:ln/>
        </p:spPr>
        <p:txBody>
          <a:bodyPr wrap="square" lIns="0" tIns="0" rIns="0" bIns="0" rtlCol="0" anchor="ctr"/>
          <a:lstStyle/>
          <a:p>
            <a:pPr algn="ctr" indent="0" marL="0">
              <a:buNone/>
            </a:pPr>
            <a:r>
              <a:rPr lang="en-US" sz="1050" dirty="0">
                <a:solidFill>
                  <a:srgbClr val="3FE0E8"/>
                </a:solidFill>
                <a:latin typeface="Courier New" pitchFamily="34" charset="0"/>
                <a:ea typeface="Courier New" pitchFamily="34" charset="-122"/>
                <a:cs typeface="Courier New" pitchFamily="34" charset="-120"/>
              </a:rPr>
              <a:t>MORE CONTROL / MORE WORK</a:t>
            </a:r>
            <a:endParaRPr lang="en-US" sz="1050" dirty="0"/>
          </a:p>
        </p:txBody>
      </p:sp>
      <p:sp>
        <p:nvSpPr>
          <p:cNvPr id="34" name="Shape 32"/>
          <p:cNvSpPr/>
          <p:nvPr/>
        </p:nvSpPr>
        <p:spPr>
          <a:xfrm>
            <a:off x="6095848" y="1463040"/>
            <a:ext cx="0" cy="3977640"/>
          </a:xfrm>
          <a:prstGeom prst="line">
            <a:avLst/>
          </a:prstGeom>
          <a:noFill/>
          <a:ln w="9525">
            <a:solidFill>
              <a:srgbClr val="1D2427"/>
            </a:solidFill>
            <a:prstDash val="solid"/>
          </a:ln>
        </p:spPr>
      </p:sp>
      <p:sp>
        <p:nvSpPr>
          <p:cNvPr id="35" name="Text 33"/>
          <p:cNvSpPr/>
          <p:nvPr/>
        </p:nvSpPr>
        <p:spPr>
          <a:xfrm>
            <a:off x="548640" y="6492240"/>
            <a:ext cx="4572000" cy="228600"/>
          </a:xfrm>
          <a:prstGeom prst="rect">
            <a:avLst/>
          </a:prstGeom>
          <a:noFill/>
          <a:ln/>
        </p:spPr>
        <p:txBody>
          <a:bodyPr wrap="square" lIns="0" tIns="0" rIns="0" bIns="0" rtlCol="0" anchor="ctr"/>
          <a:lstStyle/>
          <a:p>
            <a:pPr algn="l" indent="0" marL="0">
              <a:buNone/>
            </a:pPr>
            <a:r>
              <a:rPr lang="en-US" sz="900" spc="50" kern="0" dirty="0">
                <a:solidFill>
                  <a:srgbClr val="5A646A"/>
                </a:solidFill>
                <a:latin typeface="Courier New" pitchFamily="34" charset="0"/>
                <a:ea typeface="Courier New" pitchFamily="34" charset="-122"/>
                <a:cs typeface="Courier New" pitchFamily="34" charset="-120"/>
              </a:rPr>
              <a:t>abstraction trade-off, not a superiority claim</a:t>
            </a:r>
            <a:endParaRPr lang="en-US" sz="900" dirty="0"/>
          </a:p>
        </p:txBody>
      </p:sp>
      <p:sp>
        <p:nvSpPr>
          <p:cNvPr id="36" name="Text 34"/>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548640" y="411480"/>
            <a:ext cx="3657600" cy="274320"/>
          </a:xfrm>
          <a:prstGeom prst="rect">
            <a:avLst/>
          </a:prstGeom>
          <a:noFill/>
          <a:ln/>
        </p:spPr>
        <p:txBody>
          <a:bodyPr wrap="square" lIns="0" tIns="0" rIns="0" bIns="0" rtlCol="0" anchor="ctr"/>
          <a:lstStyle/>
          <a:p>
            <a:pPr algn="l" indent="0" marL="0">
              <a:buNone/>
            </a:pPr>
            <a:r>
              <a:rPr lang="en-US" sz="1100" spc="200" kern="0" dirty="0">
                <a:solidFill>
                  <a:srgbClr val="3FE0E8"/>
                </a:solidFill>
                <a:latin typeface="Courier New" pitchFamily="34" charset="0"/>
                <a:ea typeface="Courier New" pitchFamily="34" charset="-122"/>
                <a:cs typeface="Courier New" pitchFamily="34" charset="-120"/>
              </a:rPr>
              <a:t>07 — THE NUMBERS</a:t>
            </a:r>
            <a:endParaRPr lang="en-US" sz="1100" dirty="0"/>
          </a:p>
        </p:txBody>
      </p:sp>
      <p:sp>
        <p:nvSpPr>
          <p:cNvPr id="3" name="Text 1"/>
          <p:cNvSpPr/>
          <p:nvPr/>
        </p:nvSpPr>
        <p:spPr>
          <a:xfrm>
            <a:off x="548640" y="658368"/>
            <a:ext cx="7315200" cy="320040"/>
          </a:xfrm>
          <a:prstGeom prst="rect">
            <a:avLst/>
          </a:prstGeom>
          <a:noFill/>
          <a:ln/>
        </p:spPr>
        <p:txBody>
          <a:bodyPr wrap="square" lIns="0" tIns="0" rIns="0" bIns="0" rtlCol="0" anchor="ctr"/>
          <a:lstStyle/>
          <a:p>
            <a:pPr indent="0" marL="0">
              <a:buNone/>
            </a:pPr>
            <a:r>
              <a:rPr lang="en-US" sz="1100" dirty="0">
                <a:solidFill>
                  <a:srgbClr val="838E96"/>
                </a:solidFill>
                <a:latin typeface="Courier New" pitchFamily="34" charset="0"/>
                <a:ea typeface="Courier New" pitchFamily="34" charset="-122"/>
                <a:cs typeface="Courier New" pitchFamily="34" charset="-120"/>
              </a:rPr>
              <a:t>framework orchestration overhead</a:t>
            </a:r>
            <a:endParaRPr lang="en-US" sz="1100" dirty="0"/>
          </a:p>
        </p:txBody>
      </p:sp>
      <p:sp>
        <p:nvSpPr>
          <p:cNvPr id="4" name="Shape 2"/>
          <p:cNvSpPr/>
          <p:nvPr/>
        </p:nvSpPr>
        <p:spPr>
          <a:xfrm>
            <a:off x="8259775" y="384048"/>
            <a:ext cx="3383280" cy="384048"/>
          </a:xfrm>
          <a:prstGeom prst="rect">
            <a:avLst/>
          </a:prstGeom>
          <a:solidFill>
            <a:srgbClr val="0D1214"/>
          </a:solidFill>
          <a:ln w="12700">
            <a:solidFill>
              <a:srgbClr val="3FE0E8"/>
            </a:solidFill>
            <a:prstDash val="solid"/>
          </a:ln>
        </p:spPr>
      </p:sp>
      <p:sp>
        <p:nvSpPr>
          <p:cNvPr id="5" name="Text 3"/>
          <p:cNvSpPr/>
          <p:nvPr/>
        </p:nvSpPr>
        <p:spPr>
          <a:xfrm>
            <a:off x="8259775" y="384048"/>
            <a:ext cx="3383280" cy="384048"/>
          </a:xfrm>
          <a:prstGeom prst="rect">
            <a:avLst/>
          </a:prstGeom>
          <a:noFill/>
          <a:ln/>
        </p:spPr>
        <p:txBody>
          <a:bodyPr wrap="square" lIns="0" tIns="0" rIns="0" bIns="0" rtlCol="0" anchor="ctr"/>
          <a:lstStyle/>
          <a:p>
            <a:pPr algn="ctr" indent="0" marL="0">
              <a:buNone/>
            </a:pPr>
            <a:r>
              <a:rPr lang="en-US" sz="950" b="1" dirty="0">
                <a:solidFill>
                  <a:srgbClr val="3FE0E8"/>
                </a:solidFill>
                <a:latin typeface="Courier New" pitchFamily="34" charset="0"/>
                <a:ea typeface="Courier New" pitchFamily="34" charset="-122"/>
                <a:cs typeface="Courier New" pitchFamily="34" charset="-120"/>
              </a:rPr>
              <a:t>EXTERNAL BENCHMARK · NOT RAGNAROK</a:t>
            </a:r>
            <a:endParaRPr lang="en-US" sz="950" dirty="0"/>
          </a:p>
        </p:txBody>
      </p:sp>
      <p:sp>
        <p:nvSpPr>
          <p:cNvPr id="6" name="Shape 4"/>
          <p:cNvSpPr/>
          <p:nvPr/>
        </p:nvSpPr>
        <p:spPr>
          <a:xfrm>
            <a:off x="548640" y="1024128"/>
            <a:ext cx="11094415" cy="0"/>
          </a:xfrm>
          <a:prstGeom prst="line">
            <a:avLst/>
          </a:prstGeom>
          <a:noFill/>
          <a:ln w="9525">
            <a:solidFill>
              <a:srgbClr val="1D2427"/>
            </a:solidFill>
            <a:prstDash val="solid"/>
          </a:ln>
        </p:spPr>
      </p:sp>
      <p:sp>
        <p:nvSpPr>
          <p:cNvPr id="7" name="Text 5"/>
          <p:cNvSpPr/>
          <p:nvPr/>
        </p:nvSpPr>
        <p:spPr>
          <a:xfrm>
            <a:off x="548640" y="1508760"/>
            <a:ext cx="1737360" cy="566928"/>
          </a:xfrm>
          <a:prstGeom prst="rect">
            <a:avLst/>
          </a:prstGeom>
          <a:noFill/>
          <a:ln/>
        </p:spPr>
        <p:txBody>
          <a:bodyPr wrap="square" lIns="0" tIns="0" rIns="0" bIns="0" rtlCol="0" anchor="ctr"/>
          <a:lstStyle/>
          <a:p>
            <a:pPr algn="r" indent="0" marL="0">
              <a:buNone/>
            </a:pPr>
            <a:r>
              <a:rPr lang="en-US" sz="1300" dirty="0">
                <a:solidFill>
                  <a:srgbClr val="EDEFF1"/>
                </a:solidFill>
                <a:latin typeface="Courier New" pitchFamily="34" charset="0"/>
                <a:ea typeface="Courier New" pitchFamily="34" charset="-122"/>
                <a:cs typeface="Courier New" pitchFamily="34" charset="-120"/>
              </a:rPr>
              <a:t>DSPy</a:t>
            </a:r>
            <a:endParaRPr lang="en-US" sz="1300" dirty="0"/>
          </a:p>
        </p:txBody>
      </p:sp>
      <p:sp>
        <p:nvSpPr>
          <p:cNvPr id="8" name="Shape 6"/>
          <p:cNvSpPr/>
          <p:nvPr/>
        </p:nvSpPr>
        <p:spPr>
          <a:xfrm>
            <a:off x="2377440" y="1645920"/>
            <a:ext cx="7498080" cy="292608"/>
          </a:xfrm>
          <a:prstGeom prst="rect">
            <a:avLst/>
          </a:prstGeom>
          <a:solidFill>
            <a:srgbClr val="161C1F"/>
          </a:solidFill>
          <a:ln w="6350">
            <a:solidFill>
              <a:srgbClr val="2A3236"/>
            </a:solidFill>
            <a:prstDash val="solid"/>
          </a:ln>
        </p:spPr>
      </p:sp>
      <p:sp>
        <p:nvSpPr>
          <p:cNvPr id="9" name="Shape 7"/>
          <p:cNvSpPr/>
          <p:nvPr/>
        </p:nvSpPr>
        <p:spPr>
          <a:xfrm>
            <a:off x="2377440" y="1645920"/>
            <a:ext cx="1890587" cy="292608"/>
          </a:xfrm>
          <a:prstGeom prst="rect">
            <a:avLst/>
          </a:prstGeom>
          <a:solidFill>
            <a:srgbClr val="1E6E72"/>
          </a:solidFill>
          <a:ln/>
        </p:spPr>
      </p:sp>
      <p:sp>
        <p:nvSpPr>
          <p:cNvPr id="10" name="Text 8"/>
          <p:cNvSpPr/>
          <p:nvPr/>
        </p:nvSpPr>
        <p:spPr>
          <a:xfrm>
            <a:off x="4405187" y="1627632"/>
            <a:ext cx="1097280" cy="329184"/>
          </a:xfrm>
          <a:prstGeom prst="rect">
            <a:avLst/>
          </a:prstGeom>
          <a:noFill/>
          <a:ln/>
        </p:spPr>
        <p:txBody>
          <a:bodyPr wrap="square" lIns="0" tIns="0" rIns="0" bIns="0" rtlCol="0" anchor="ctr"/>
          <a:lstStyle/>
          <a:p>
            <a:pPr indent="0" marL="0">
              <a:buNone/>
            </a:pPr>
            <a:r>
              <a:rPr lang="en-US" sz="1200" dirty="0">
                <a:solidFill>
                  <a:srgbClr val="3FE0E8"/>
                </a:solidFill>
                <a:latin typeface="Courier New" pitchFamily="34" charset="0"/>
                <a:ea typeface="Courier New" pitchFamily="34" charset="-122"/>
                <a:cs typeface="Courier New" pitchFamily="34" charset="-120"/>
              </a:rPr>
              <a:t>3.53 ms</a:t>
            </a:r>
            <a:endParaRPr lang="en-US" sz="1200" dirty="0"/>
          </a:p>
        </p:txBody>
      </p:sp>
      <p:sp>
        <p:nvSpPr>
          <p:cNvPr id="11" name="Text 9"/>
          <p:cNvSpPr/>
          <p:nvPr/>
        </p:nvSpPr>
        <p:spPr>
          <a:xfrm>
            <a:off x="548640" y="2276856"/>
            <a:ext cx="1737360" cy="566928"/>
          </a:xfrm>
          <a:prstGeom prst="rect">
            <a:avLst/>
          </a:prstGeom>
          <a:noFill/>
          <a:ln/>
        </p:spPr>
        <p:txBody>
          <a:bodyPr wrap="square" lIns="0" tIns="0" rIns="0" bIns="0" rtlCol="0" anchor="ctr"/>
          <a:lstStyle/>
          <a:p>
            <a:pPr algn="r" indent="0" marL="0">
              <a:buNone/>
            </a:pPr>
            <a:r>
              <a:rPr lang="en-US" sz="1300" dirty="0">
                <a:solidFill>
                  <a:srgbClr val="EDEFF1"/>
                </a:solidFill>
                <a:latin typeface="Courier New" pitchFamily="34" charset="0"/>
                <a:ea typeface="Courier New" pitchFamily="34" charset="-122"/>
                <a:cs typeface="Courier New" pitchFamily="34" charset="-120"/>
              </a:rPr>
              <a:t>Haystack</a:t>
            </a:r>
            <a:endParaRPr lang="en-US" sz="1300" dirty="0"/>
          </a:p>
        </p:txBody>
      </p:sp>
      <p:sp>
        <p:nvSpPr>
          <p:cNvPr id="12" name="Shape 10"/>
          <p:cNvSpPr/>
          <p:nvPr/>
        </p:nvSpPr>
        <p:spPr>
          <a:xfrm>
            <a:off x="2377440" y="2414016"/>
            <a:ext cx="7498080" cy="292608"/>
          </a:xfrm>
          <a:prstGeom prst="rect">
            <a:avLst/>
          </a:prstGeom>
          <a:solidFill>
            <a:srgbClr val="161C1F"/>
          </a:solidFill>
          <a:ln w="6350">
            <a:solidFill>
              <a:srgbClr val="2A3236"/>
            </a:solidFill>
            <a:prstDash val="solid"/>
          </a:ln>
        </p:spPr>
      </p:sp>
      <p:sp>
        <p:nvSpPr>
          <p:cNvPr id="13" name="Shape 11"/>
          <p:cNvSpPr/>
          <p:nvPr/>
        </p:nvSpPr>
        <p:spPr>
          <a:xfrm>
            <a:off x="2377440" y="2414016"/>
            <a:ext cx="3159905" cy="292608"/>
          </a:xfrm>
          <a:prstGeom prst="rect">
            <a:avLst/>
          </a:prstGeom>
          <a:solidFill>
            <a:srgbClr val="1E6E72"/>
          </a:solidFill>
          <a:ln/>
        </p:spPr>
      </p:sp>
      <p:sp>
        <p:nvSpPr>
          <p:cNvPr id="14" name="Text 12"/>
          <p:cNvSpPr/>
          <p:nvPr/>
        </p:nvSpPr>
        <p:spPr>
          <a:xfrm>
            <a:off x="5674505" y="2395728"/>
            <a:ext cx="1097280" cy="329184"/>
          </a:xfrm>
          <a:prstGeom prst="rect">
            <a:avLst/>
          </a:prstGeom>
          <a:noFill/>
          <a:ln/>
        </p:spPr>
        <p:txBody>
          <a:bodyPr wrap="square" lIns="0" tIns="0" rIns="0" bIns="0" rtlCol="0" anchor="ctr"/>
          <a:lstStyle/>
          <a:p>
            <a:pPr indent="0" marL="0">
              <a:buNone/>
            </a:pPr>
            <a:r>
              <a:rPr lang="en-US" sz="1200" dirty="0">
                <a:solidFill>
                  <a:srgbClr val="3FE0E8"/>
                </a:solidFill>
                <a:latin typeface="Courier New" pitchFamily="34" charset="0"/>
                <a:ea typeface="Courier New" pitchFamily="34" charset="-122"/>
                <a:cs typeface="Courier New" pitchFamily="34" charset="-120"/>
              </a:rPr>
              <a:t>5.9 ms</a:t>
            </a:r>
            <a:endParaRPr lang="en-US" sz="1200" dirty="0"/>
          </a:p>
        </p:txBody>
      </p:sp>
      <p:sp>
        <p:nvSpPr>
          <p:cNvPr id="15" name="Text 13"/>
          <p:cNvSpPr/>
          <p:nvPr/>
        </p:nvSpPr>
        <p:spPr>
          <a:xfrm>
            <a:off x="548640" y="3044952"/>
            <a:ext cx="1737360" cy="566928"/>
          </a:xfrm>
          <a:prstGeom prst="rect">
            <a:avLst/>
          </a:prstGeom>
          <a:noFill/>
          <a:ln/>
        </p:spPr>
        <p:txBody>
          <a:bodyPr wrap="square" lIns="0" tIns="0" rIns="0" bIns="0" rtlCol="0" anchor="ctr"/>
          <a:lstStyle/>
          <a:p>
            <a:pPr algn="r" indent="0" marL="0">
              <a:buNone/>
            </a:pPr>
            <a:r>
              <a:rPr lang="en-US" sz="1300" dirty="0">
                <a:solidFill>
                  <a:srgbClr val="EDEFF1"/>
                </a:solidFill>
                <a:latin typeface="Courier New" pitchFamily="34" charset="0"/>
                <a:ea typeface="Courier New" pitchFamily="34" charset="-122"/>
                <a:cs typeface="Courier New" pitchFamily="34" charset="-120"/>
              </a:rPr>
              <a:t>LlamaIndex</a:t>
            </a:r>
            <a:endParaRPr lang="en-US" sz="1300" dirty="0"/>
          </a:p>
        </p:txBody>
      </p:sp>
      <p:sp>
        <p:nvSpPr>
          <p:cNvPr id="16" name="Shape 14"/>
          <p:cNvSpPr/>
          <p:nvPr/>
        </p:nvSpPr>
        <p:spPr>
          <a:xfrm>
            <a:off x="2377440" y="3182112"/>
            <a:ext cx="7498080" cy="292608"/>
          </a:xfrm>
          <a:prstGeom prst="rect">
            <a:avLst/>
          </a:prstGeom>
          <a:solidFill>
            <a:srgbClr val="161C1F"/>
          </a:solidFill>
          <a:ln w="6350">
            <a:solidFill>
              <a:srgbClr val="2A3236"/>
            </a:solidFill>
            <a:prstDash val="solid"/>
          </a:ln>
        </p:spPr>
      </p:sp>
      <p:sp>
        <p:nvSpPr>
          <p:cNvPr id="17" name="Shape 15"/>
          <p:cNvSpPr/>
          <p:nvPr/>
        </p:nvSpPr>
        <p:spPr>
          <a:xfrm>
            <a:off x="2377440" y="3182112"/>
            <a:ext cx="3213463" cy="292608"/>
          </a:xfrm>
          <a:prstGeom prst="rect">
            <a:avLst/>
          </a:prstGeom>
          <a:solidFill>
            <a:srgbClr val="1E6E72"/>
          </a:solidFill>
          <a:ln/>
        </p:spPr>
      </p:sp>
      <p:sp>
        <p:nvSpPr>
          <p:cNvPr id="18" name="Text 16"/>
          <p:cNvSpPr/>
          <p:nvPr/>
        </p:nvSpPr>
        <p:spPr>
          <a:xfrm>
            <a:off x="5728063" y="3163824"/>
            <a:ext cx="1097280" cy="329184"/>
          </a:xfrm>
          <a:prstGeom prst="rect">
            <a:avLst/>
          </a:prstGeom>
          <a:noFill/>
          <a:ln/>
        </p:spPr>
        <p:txBody>
          <a:bodyPr wrap="square" lIns="0" tIns="0" rIns="0" bIns="0" rtlCol="0" anchor="ctr"/>
          <a:lstStyle/>
          <a:p>
            <a:pPr indent="0" marL="0">
              <a:buNone/>
            </a:pPr>
            <a:r>
              <a:rPr lang="en-US" sz="1200" dirty="0">
                <a:solidFill>
                  <a:srgbClr val="3FE0E8"/>
                </a:solidFill>
                <a:latin typeface="Courier New" pitchFamily="34" charset="0"/>
                <a:ea typeface="Courier New" pitchFamily="34" charset="-122"/>
                <a:cs typeface="Courier New" pitchFamily="34" charset="-120"/>
              </a:rPr>
              <a:t>6 ms</a:t>
            </a:r>
            <a:endParaRPr lang="en-US" sz="1200" dirty="0"/>
          </a:p>
        </p:txBody>
      </p:sp>
      <p:sp>
        <p:nvSpPr>
          <p:cNvPr id="19" name="Text 17"/>
          <p:cNvSpPr/>
          <p:nvPr/>
        </p:nvSpPr>
        <p:spPr>
          <a:xfrm>
            <a:off x="548640" y="3813048"/>
            <a:ext cx="1737360" cy="566928"/>
          </a:xfrm>
          <a:prstGeom prst="rect">
            <a:avLst/>
          </a:prstGeom>
          <a:noFill/>
          <a:ln/>
        </p:spPr>
        <p:txBody>
          <a:bodyPr wrap="square" lIns="0" tIns="0" rIns="0" bIns="0" rtlCol="0" anchor="ctr"/>
          <a:lstStyle/>
          <a:p>
            <a:pPr algn="r" indent="0" marL="0">
              <a:buNone/>
            </a:pPr>
            <a:r>
              <a:rPr lang="en-US" sz="1300" dirty="0">
                <a:solidFill>
                  <a:srgbClr val="EDEFF1"/>
                </a:solidFill>
                <a:latin typeface="Courier New" pitchFamily="34" charset="0"/>
                <a:ea typeface="Courier New" pitchFamily="34" charset="-122"/>
                <a:cs typeface="Courier New" pitchFamily="34" charset="-120"/>
              </a:rPr>
              <a:t>LangChain</a:t>
            </a:r>
            <a:endParaRPr lang="en-US" sz="1300" dirty="0"/>
          </a:p>
        </p:txBody>
      </p:sp>
      <p:sp>
        <p:nvSpPr>
          <p:cNvPr id="20" name="Shape 18"/>
          <p:cNvSpPr/>
          <p:nvPr/>
        </p:nvSpPr>
        <p:spPr>
          <a:xfrm>
            <a:off x="2377440" y="3950208"/>
            <a:ext cx="7498080" cy="292608"/>
          </a:xfrm>
          <a:prstGeom prst="rect">
            <a:avLst/>
          </a:prstGeom>
          <a:solidFill>
            <a:srgbClr val="161C1F"/>
          </a:solidFill>
          <a:ln w="6350">
            <a:solidFill>
              <a:srgbClr val="2A3236"/>
            </a:solidFill>
            <a:prstDash val="solid"/>
          </a:ln>
        </p:spPr>
      </p:sp>
      <p:sp>
        <p:nvSpPr>
          <p:cNvPr id="21" name="Shape 19"/>
          <p:cNvSpPr/>
          <p:nvPr/>
        </p:nvSpPr>
        <p:spPr>
          <a:xfrm>
            <a:off x="2377440" y="3950208"/>
            <a:ext cx="5355771" cy="292608"/>
          </a:xfrm>
          <a:prstGeom prst="rect">
            <a:avLst/>
          </a:prstGeom>
          <a:solidFill>
            <a:srgbClr val="1E6E72"/>
          </a:solidFill>
          <a:ln/>
        </p:spPr>
      </p:sp>
      <p:sp>
        <p:nvSpPr>
          <p:cNvPr id="22" name="Text 20"/>
          <p:cNvSpPr/>
          <p:nvPr/>
        </p:nvSpPr>
        <p:spPr>
          <a:xfrm>
            <a:off x="7870371" y="3931920"/>
            <a:ext cx="1097280" cy="329184"/>
          </a:xfrm>
          <a:prstGeom prst="rect">
            <a:avLst/>
          </a:prstGeom>
          <a:noFill/>
          <a:ln/>
        </p:spPr>
        <p:txBody>
          <a:bodyPr wrap="square" lIns="0" tIns="0" rIns="0" bIns="0" rtlCol="0" anchor="ctr"/>
          <a:lstStyle/>
          <a:p>
            <a:pPr indent="0" marL="0">
              <a:buNone/>
            </a:pPr>
            <a:r>
              <a:rPr lang="en-US" sz="1200" dirty="0">
                <a:solidFill>
                  <a:srgbClr val="3FE0E8"/>
                </a:solidFill>
                <a:latin typeface="Courier New" pitchFamily="34" charset="0"/>
                <a:ea typeface="Courier New" pitchFamily="34" charset="-122"/>
                <a:cs typeface="Courier New" pitchFamily="34" charset="-120"/>
              </a:rPr>
              <a:t>10 ms</a:t>
            </a:r>
            <a:endParaRPr lang="en-US" sz="1200" dirty="0"/>
          </a:p>
        </p:txBody>
      </p:sp>
      <p:sp>
        <p:nvSpPr>
          <p:cNvPr id="23" name="Text 21"/>
          <p:cNvSpPr/>
          <p:nvPr/>
        </p:nvSpPr>
        <p:spPr>
          <a:xfrm>
            <a:off x="548640" y="4581144"/>
            <a:ext cx="1737360" cy="566928"/>
          </a:xfrm>
          <a:prstGeom prst="rect">
            <a:avLst/>
          </a:prstGeom>
          <a:noFill/>
          <a:ln/>
        </p:spPr>
        <p:txBody>
          <a:bodyPr wrap="square" lIns="0" tIns="0" rIns="0" bIns="0" rtlCol="0" anchor="ctr"/>
          <a:lstStyle/>
          <a:p>
            <a:pPr algn="r" indent="0" marL="0">
              <a:buNone/>
            </a:pPr>
            <a:r>
              <a:rPr lang="en-US" sz="1300" dirty="0">
                <a:solidFill>
                  <a:srgbClr val="EDEFF1"/>
                </a:solidFill>
                <a:latin typeface="Courier New" pitchFamily="34" charset="0"/>
                <a:ea typeface="Courier New" pitchFamily="34" charset="-122"/>
                <a:cs typeface="Courier New" pitchFamily="34" charset="-120"/>
              </a:rPr>
              <a:t>LangGraph</a:t>
            </a:r>
            <a:endParaRPr lang="en-US" sz="1300" dirty="0"/>
          </a:p>
        </p:txBody>
      </p:sp>
      <p:sp>
        <p:nvSpPr>
          <p:cNvPr id="24" name="Shape 22"/>
          <p:cNvSpPr/>
          <p:nvPr/>
        </p:nvSpPr>
        <p:spPr>
          <a:xfrm>
            <a:off x="2377440" y="4718304"/>
            <a:ext cx="7498080" cy="292608"/>
          </a:xfrm>
          <a:prstGeom prst="rect">
            <a:avLst/>
          </a:prstGeom>
          <a:solidFill>
            <a:srgbClr val="161C1F"/>
          </a:solidFill>
          <a:ln w="6350">
            <a:solidFill>
              <a:srgbClr val="2A3236"/>
            </a:solidFill>
            <a:prstDash val="solid"/>
          </a:ln>
        </p:spPr>
      </p:sp>
      <p:sp>
        <p:nvSpPr>
          <p:cNvPr id="25" name="Shape 23"/>
          <p:cNvSpPr/>
          <p:nvPr/>
        </p:nvSpPr>
        <p:spPr>
          <a:xfrm>
            <a:off x="2377440" y="4718304"/>
            <a:ext cx="7498080" cy="292608"/>
          </a:xfrm>
          <a:prstGeom prst="rect">
            <a:avLst/>
          </a:prstGeom>
          <a:solidFill>
            <a:srgbClr val="3FE0E8"/>
          </a:solidFill>
          <a:ln/>
        </p:spPr>
      </p:sp>
      <p:sp>
        <p:nvSpPr>
          <p:cNvPr id="26" name="Text 24"/>
          <p:cNvSpPr/>
          <p:nvPr/>
        </p:nvSpPr>
        <p:spPr>
          <a:xfrm>
            <a:off x="10012680" y="4700016"/>
            <a:ext cx="1097280" cy="329184"/>
          </a:xfrm>
          <a:prstGeom prst="rect">
            <a:avLst/>
          </a:prstGeom>
          <a:noFill/>
          <a:ln/>
        </p:spPr>
        <p:txBody>
          <a:bodyPr wrap="square" lIns="0" tIns="0" rIns="0" bIns="0" rtlCol="0" anchor="ctr"/>
          <a:lstStyle/>
          <a:p>
            <a:pPr indent="0" marL="0">
              <a:buNone/>
            </a:pPr>
            <a:r>
              <a:rPr lang="en-US" sz="1200" dirty="0">
                <a:solidFill>
                  <a:srgbClr val="3FE0E8"/>
                </a:solidFill>
                <a:latin typeface="Courier New" pitchFamily="34" charset="0"/>
                <a:ea typeface="Courier New" pitchFamily="34" charset="-122"/>
                <a:cs typeface="Courier New" pitchFamily="34" charset="-120"/>
              </a:rPr>
              <a:t>14 ms</a:t>
            </a:r>
            <a:endParaRPr lang="en-US" sz="1200" dirty="0"/>
          </a:p>
        </p:txBody>
      </p:sp>
      <p:sp>
        <p:nvSpPr>
          <p:cNvPr id="27" name="Shape 25"/>
          <p:cNvSpPr/>
          <p:nvPr/>
        </p:nvSpPr>
        <p:spPr>
          <a:xfrm>
            <a:off x="548640" y="5440680"/>
            <a:ext cx="11094415" cy="0"/>
          </a:xfrm>
          <a:prstGeom prst="line">
            <a:avLst/>
          </a:prstGeom>
          <a:noFill/>
          <a:ln w="9525">
            <a:solidFill>
              <a:srgbClr val="1D2427"/>
            </a:solidFill>
            <a:prstDash val="solid"/>
          </a:ln>
        </p:spPr>
      </p:sp>
      <p:sp>
        <p:nvSpPr>
          <p:cNvPr id="28" name="Text 26"/>
          <p:cNvSpPr/>
          <p:nvPr/>
        </p:nvSpPr>
        <p:spPr>
          <a:xfrm>
            <a:off x="548640" y="5623560"/>
            <a:ext cx="11094415" cy="457200"/>
          </a:xfrm>
          <a:prstGeom prst="rect">
            <a:avLst/>
          </a:prstGeom>
          <a:noFill/>
          <a:ln/>
        </p:spPr>
        <p:txBody>
          <a:bodyPr wrap="square" lIns="0" tIns="0" rIns="0" bIns="0" rtlCol="0" anchor="ctr"/>
          <a:lstStyle/>
          <a:p>
            <a:pPr algn="l" indent="0" marL="0">
              <a:buNone/>
            </a:pPr>
            <a:r>
              <a:rPr lang="en-US" sz="2000" b="1" dirty="0">
                <a:solidFill>
                  <a:srgbClr val="EDEFF1"/>
                </a:solidFill>
                <a:latin typeface="Calibri" pitchFamily="34" charset="0"/>
                <a:ea typeface="Calibri" pitchFamily="34" charset="-122"/>
                <a:cs typeface="Calibri" pitchFamily="34" charset="-120"/>
              </a:rPr>
              <a:t>WHERE DOES THE LATENCY ACTUALLY GO?</a:t>
            </a:r>
            <a:endParaRPr lang="en-US" sz="2000" dirty="0"/>
          </a:p>
        </p:txBody>
      </p:sp>
      <p:sp>
        <p:nvSpPr>
          <p:cNvPr id="29" name="Text 27"/>
          <p:cNvSpPr/>
          <p:nvPr/>
        </p:nvSpPr>
        <p:spPr>
          <a:xfrm>
            <a:off x="548640" y="6126480"/>
            <a:ext cx="11094415" cy="365760"/>
          </a:xfrm>
          <a:prstGeom prst="rect">
            <a:avLst/>
          </a:prstGeom>
          <a:noFill/>
          <a:ln/>
        </p:spPr>
        <p:txBody>
          <a:bodyPr wrap="square" lIns="0" tIns="0" rIns="0" bIns="0" rtlCol="0" anchor="ctr"/>
          <a:lstStyle/>
          <a:p>
            <a:pPr algn="l" indent="0" marL="0">
              <a:buNone/>
            </a:pPr>
            <a:r>
              <a:rPr lang="en-US" sz="1150" dirty="0">
                <a:solidFill>
                  <a:srgbClr val="838E96"/>
                </a:solidFill>
                <a:latin typeface="Courier New" pitchFamily="34" charset="0"/>
                <a:ea typeface="Courier New" pitchFamily="34" charset="-122"/>
                <a:cs typeface="Courier New" pitchFamily="34" charset="-120"/>
              </a:rPr>
              <a:t>Framework overhead is measurable — but end-to-end RAG latency also includes network, API, and model time.</a:t>
            </a:r>
            <a:endParaRPr lang="en-US" sz="1150" dirty="0"/>
          </a:p>
        </p:txBody>
      </p:sp>
      <p:sp>
        <p:nvSpPr>
          <p:cNvPr id="30" name="Text 28"/>
          <p:cNvSpPr/>
          <p:nvPr/>
        </p:nvSpPr>
        <p:spPr>
          <a:xfrm>
            <a:off x="548640" y="6492240"/>
            <a:ext cx="9144000" cy="228600"/>
          </a:xfrm>
          <a:prstGeom prst="rect">
            <a:avLst/>
          </a:prstGeom>
          <a:noFill/>
          <a:ln/>
        </p:spPr>
        <p:txBody>
          <a:bodyPr wrap="square" lIns="0" tIns="0" rIns="0" bIns="0" rtlCol="0" anchor="ctr"/>
          <a:lstStyle/>
          <a:p>
            <a:pPr algn="l" indent="0" marL="0">
              <a:buNone/>
            </a:pPr>
            <a:r>
              <a:rPr lang="en-US" sz="900" spc="50" kern="0" dirty="0">
                <a:solidFill>
                  <a:srgbClr val="5A646A"/>
                </a:solidFill>
                <a:latin typeface="Courier New" pitchFamily="34" charset="0"/>
                <a:ea typeface="Courier New" pitchFamily="34" charset="-122"/>
                <a:cs typeface="Courier New" pitchFamily="34" charset="-120"/>
              </a:rPr>
              <a:t>external benchmark context — not measured by this project · source to be verified</a:t>
            </a:r>
            <a:endParaRPr lang="en-US" sz="900" dirty="0"/>
          </a:p>
        </p:txBody>
      </p:sp>
      <p:sp>
        <p:nvSpPr>
          <p:cNvPr id="31" name="Text 29"/>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548640" y="411480"/>
            <a:ext cx="3657600" cy="274320"/>
          </a:xfrm>
          <a:prstGeom prst="rect">
            <a:avLst/>
          </a:prstGeom>
          <a:noFill/>
          <a:ln/>
        </p:spPr>
        <p:txBody>
          <a:bodyPr wrap="square" lIns="0" tIns="0" rIns="0" bIns="0" rtlCol="0" anchor="ctr"/>
          <a:lstStyle/>
          <a:p>
            <a:pPr algn="l" indent="0" marL="0">
              <a:buNone/>
            </a:pPr>
            <a:r>
              <a:rPr lang="en-US" sz="1100" spc="200" kern="0" dirty="0">
                <a:solidFill>
                  <a:srgbClr val="3FE0E8"/>
                </a:solidFill>
                <a:latin typeface="Courier New" pitchFamily="34" charset="0"/>
                <a:ea typeface="Courier New" pitchFamily="34" charset="-122"/>
                <a:cs typeface="Courier New" pitchFamily="34" charset="-120"/>
              </a:rPr>
              <a:t>08 — THE TEST</a:t>
            </a:r>
            <a:endParaRPr lang="en-US" sz="1100" dirty="0"/>
          </a:p>
        </p:txBody>
      </p:sp>
      <p:sp>
        <p:nvSpPr>
          <p:cNvPr id="3" name="Text 1"/>
          <p:cNvSpPr/>
          <p:nvPr/>
        </p:nvSpPr>
        <p:spPr>
          <a:xfrm>
            <a:off x="548640" y="658368"/>
            <a:ext cx="7315200" cy="365760"/>
          </a:xfrm>
          <a:prstGeom prst="rect">
            <a:avLst/>
          </a:prstGeom>
          <a:noFill/>
          <a:ln/>
        </p:spPr>
        <p:txBody>
          <a:bodyPr wrap="square" lIns="0" tIns="0" rIns="0" bIns="0" rtlCol="0" anchor="ctr"/>
          <a:lstStyle/>
          <a:p>
            <a:pPr indent="0" marL="0">
              <a:buNone/>
            </a:pPr>
            <a:r>
              <a:rPr lang="en-US" sz="1300" b="1" dirty="0">
                <a:solidFill>
                  <a:srgbClr val="3FE0E8"/>
                </a:solidFill>
                <a:latin typeface="Courier New" pitchFamily="34" charset="0"/>
                <a:ea typeface="Courier New" pitchFamily="34" charset="-122"/>
                <a:cs typeface="Courier New" pitchFamily="34" charset="-120"/>
              </a:rPr>
              <a:t>EVALUATION PLAN</a:t>
            </a:r>
            <a:endParaRPr lang="en-US" sz="1300" dirty="0"/>
          </a:p>
        </p:txBody>
      </p:sp>
      <p:sp>
        <p:nvSpPr>
          <p:cNvPr id="4" name="Shape 2"/>
          <p:cNvSpPr/>
          <p:nvPr/>
        </p:nvSpPr>
        <p:spPr>
          <a:xfrm>
            <a:off x="548640" y="1051560"/>
            <a:ext cx="11094415" cy="0"/>
          </a:xfrm>
          <a:prstGeom prst="line">
            <a:avLst/>
          </a:prstGeom>
          <a:noFill/>
          <a:ln w="9525">
            <a:solidFill>
              <a:srgbClr val="1D2427"/>
            </a:solidFill>
            <a:prstDash val="solid"/>
          </a:ln>
        </p:spPr>
      </p:sp>
      <p:sp>
        <p:nvSpPr>
          <p:cNvPr id="5" name="Shape 3"/>
          <p:cNvSpPr/>
          <p:nvPr/>
        </p:nvSpPr>
        <p:spPr>
          <a:xfrm>
            <a:off x="603504" y="1380744"/>
            <a:ext cx="3227832" cy="1879092"/>
          </a:xfrm>
          <a:prstGeom prst="rect">
            <a:avLst/>
          </a:prstGeom>
          <a:solidFill>
            <a:srgbClr val="12171A"/>
          </a:solidFill>
          <a:ln w="12700">
            <a:solidFill>
              <a:srgbClr val="2A3236"/>
            </a:solidFill>
            <a:prstDash val="solid"/>
          </a:ln>
        </p:spPr>
      </p:sp>
      <p:sp>
        <p:nvSpPr>
          <p:cNvPr id="6" name="Text 4"/>
          <p:cNvSpPr/>
          <p:nvPr/>
        </p:nvSpPr>
        <p:spPr>
          <a:xfrm>
            <a:off x="822960" y="1508760"/>
            <a:ext cx="2788920" cy="320040"/>
          </a:xfrm>
          <a:prstGeom prst="rect">
            <a:avLst/>
          </a:prstGeom>
          <a:noFill/>
          <a:ln/>
        </p:spPr>
        <p:txBody>
          <a:bodyPr wrap="square" lIns="0" tIns="0" rIns="0" bIns="0" rtlCol="0" anchor="ctr"/>
          <a:lstStyle/>
          <a:p>
            <a:pPr indent="0" marL="0">
              <a:buNone/>
            </a:pPr>
            <a:r>
              <a:rPr lang="en-US" sz="1300" b="1" dirty="0">
                <a:solidFill>
                  <a:srgbClr val="3FE0E8"/>
                </a:solidFill>
                <a:latin typeface="Courier New" pitchFamily="34" charset="0"/>
                <a:ea typeface="Courier New" pitchFamily="34" charset="-122"/>
                <a:cs typeface="Courier New" pitchFamily="34" charset="-120"/>
              </a:rPr>
              <a:t>CORRECTNESS</a:t>
            </a:r>
            <a:endParaRPr lang="en-US" sz="1300" dirty="0"/>
          </a:p>
        </p:txBody>
      </p:sp>
      <p:sp>
        <p:nvSpPr>
          <p:cNvPr id="7" name="Text 5"/>
          <p:cNvSpPr/>
          <p:nvPr/>
        </p:nvSpPr>
        <p:spPr>
          <a:xfrm>
            <a:off x="822960" y="1892808"/>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10–20 documents</a:t>
            </a:r>
            <a:endParaRPr lang="en-US" sz="1050" dirty="0"/>
          </a:p>
        </p:txBody>
      </p:sp>
      <p:sp>
        <p:nvSpPr>
          <p:cNvPr id="8" name="Text 6"/>
          <p:cNvSpPr/>
          <p:nvPr/>
        </p:nvSpPr>
        <p:spPr>
          <a:xfrm>
            <a:off x="822960" y="2185416"/>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answerable</a:t>
            </a:r>
            <a:endParaRPr lang="en-US" sz="1050" dirty="0"/>
          </a:p>
        </p:txBody>
      </p:sp>
      <p:sp>
        <p:nvSpPr>
          <p:cNvPr id="9" name="Text 7"/>
          <p:cNvSpPr/>
          <p:nvPr/>
        </p:nvSpPr>
        <p:spPr>
          <a:xfrm>
            <a:off x="822960" y="2478024"/>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unanswerable</a:t>
            </a:r>
            <a:endParaRPr lang="en-US" sz="1050" dirty="0"/>
          </a:p>
        </p:txBody>
      </p:sp>
      <p:sp>
        <p:nvSpPr>
          <p:cNvPr id="10" name="Shape 8"/>
          <p:cNvSpPr/>
          <p:nvPr/>
        </p:nvSpPr>
        <p:spPr>
          <a:xfrm>
            <a:off x="3941064" y="1380744"/>
            <a:ext cx="3227832" cy="1879092"/>
          </a:xfrm>
          <a:prstGeom prst="rect">
            <a:avLst/>
          </a:prstGeom>
          <a:solidFill>
            <a:srgbClr val="12171A"/>
          </a:solidFill>
          <a:ln w="12700">
            <a:solidFill>
              <a:srgbClr val="2A3236"/>
            </a:solidFill>
            <a:prstDash val="solid"/>
          </a:ln>
        </p:spPr>
      </p:sp>
      <p:sp>
        <p:nvSpPr>
          <p:cNvPr id="11" name="Text 9"/>
          <p:cNvSpPr/>
          <p:nvPr/>
        </p:nvSpPr>
        <p:spPr>
          <a:xfrm>
            <a:off x="4160520" y="1508760"/>
            <a:ext cx="2788920" cy="320040"/>
          </a:xfrm>
          <a:prstGeom prst="rect">
            <a:avLst/>
          </a:prstGeom>
          <a:noFill/>
          <a:ln/>
        </p:spPr>
        <p:txBody>
          <a:bodyPr wrap="square" lIns="0" tIns="0" rIns="0" bIns="0" rtlCol="0" anchor="ctr"/>
          <a:lstStyle/>
          <a:p>
            <a:pPr indent="0" marL="0">
              <a:buNone/>
            </a:pPr>
            <a:r>
              <a:rPr lang="en-US" sz="1300" b="1" dirty="0">
                <a:solidFill>
                  <a:srgbClr val="3FE0E8"/>
                </a:solidFill>
                <a:latin typeface="Courier New" pitchFamily="34" charset="0"/>
                <a:ea typeface="Courier New" pitchFamily="34" charset="-122"/>
                <a:cs typeface="Courier New" pitchFamily="34" charset="-120"/>
              </a:rPr>
              <a:t>RETRIEVAL</a:t>
            </a:r>
            <a:endParaRPr lang="en-US" sz="1300" dirty="0"/>
          </a:p>
        </p:txBody>
      </p:sp>
      <p:sp>
        <p:nvSpPr>
          <p:cNvPr id="12" name="Text 10"/>
          <p:cNvSpPr/>
          <p:nvPr/>
        </p:nvSpPr>
        <p:spPr>
          <a:xfrm>
            <a:off x="4160520" y="1892808"/>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grounded context</a:t>
            </a:r>
            <a:endParaRPr lang="en-US" sz="1050" dirty="0"/>
          </a:p>
        </p:txBody>
      </p:sp>
      <p:sp>
        <p:nvSpPr>
          <p:cNvPr id="13" name="Text 11"/>
          <p:cNvSpPr/>
          <p:nvPr/>
        </p:nvSpPr>
        <p:spPr>
          <a:xfrm>
            <a:off x="4160520" y="2185416"/>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top-K relevance</a:t>
            </a:r>
            <a:endParaRPr lang="en-US" sz="1050" dirty="0"/>
          </a:p>
        </p:txBody>
      </p:sp>
      <p:sp>
        <p:nvSpPr>
          <p:cNvPr id="14" name="Shape 12"/>
          <p:cNvSpPr/>
          <p:nvPr/>
        </p:nvSpPr>
        <p:spPr>
          <a:xfrm>
            <a:off x="603504" y="3369564"/>
            <a:ext cx="3227832" cy="1879092"/>
          </a:xfrm>
          <a:prstGeom prst="rect">
            <a:avLst/>
          </a:prstGeom>
          <a:solidFill>
            <a:srgbClr val="12171A"/>
          </a:solidFill>
          <a:ln w="12700">
            <a:solidFill>
              <a:srgbClr val="2A3236"/>
            </a:solidFill>
            <a:prstDash val="solid"/>
          </a:ln>
        </p:spPr>
      </p:sp>
      <p:sp>
        <p:nvSpPr>
          <p:cNvPr id="15" name="Text 13"/>
          <p:cNvSpPr/>
          <p:nvPr/>
        </p:nvSpPr>
        <p:spPr>
          <a:xfrm>
            <a:off x="822960" y="3497580"/>
            <a:ext cx="2788920" cy="320040"/>
          </a:xfrm>
          <a:prstGeom prst="rect">
            <a:avLst/>
          </a:prstGeom>
          <a:noFill/>
          <a:ln/>
        </p:spPr>
        <p:txBody>
          <a:bodyPr wrap="square" lIns="0" tIns="0" rIns="0" bIns="0" rtlCol="0" anchor="ctr"/>
          <a:lstStyle/>
          <a:p>
            <a:pPr indent="0" marL="0">
              <a:buNone/>
            </a:pPr>
            <a:r>
              <a:rPr lang="en-US" sz="1300" b="1" dirty="0">
                <a:solidFill>
                  <a:srgbClr val="3FE0E8"/>
                </a:solidFill>
                <a:latin typeface="Courier New" pitchFamily="34" charset="0"/>
                <a:ea typeface="Courier New" pitchFamily="34" charset="-122"/>
                <a:cs typeface="Courier New" pitchFamily="34" charset="-120"/>
              </a:rPr>
              <a:t>LATENCY</a:t>
            </a:r>
            <a:endParaRPr lang="en-US" sz="1300" dirty="0"/>
          </a:p>
        </p:txBody>
      </p:sp>
      <p:sp>
        <p:nvSpPr>
          <p:cNvPr id="16" name="Text 14"/>
          <p:cNvSpPr/>
          <p:nvPr/>
        </p:nvSpPr>
        <p:spPr>
          <a:xfrm>
            <a:off x="822960" y="3881628"/>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preprocess</a:t>
            </a:r>
            <a:endParaRPr lang="en-US" sz="1050" dirty="0"/>
          </a:p>
        </p:txBody>
      </p:sp>
      <p:sp>
        <p:nvSpPr>
          <p:cNvPr id="17" name="Text 15"/>
          <p:cNvSpPr/>
          <p:nvPr/>
        </p:nvSpPr>
        <p:spPr>
          <a:xfrm>
            <a:off x="822960" y="4174236"/>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embedding</a:t>
            </a:r>
            <a:endParaRPr lang="en-US" sz="1050" dirty="0"/>
          </a:p>
        </p:txBody>
      </p:sp>
      <p:sp>
        <p:nvSpPr>
          <p:cNvPr id="18" name="Text 16"/>
          <p:cNvSpPr/>
          <p:nvPr/>
        </p:nvSpPr>
        <p:spPr>
          <a:xfrm>
            <a:off x="822960" y="4466844"/>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retrieval</a:t>
            </a:r>
            <a:endParaRPr lang="en-US" sz="1050" dirty="0"/>
          </a:p>
        </p:txBody>
      </p:sp>
      <p:sp>
        <p:nvSpPr>
          <p:cNvPr id="19" name="Text 17"/>
          <p:cNvSpPr/>
          <p:nvPr/>
        </p:nvSpPr>
        <p:spPr>
          <a:xfrm>
            <a:off x="822960" y="4759452"/>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generation</a:t>
            </a:r>
            <a:endParaRPr lang="en-US" sz="1050" dirty="0"/>
          </a:p>
        </p:txBody>
      </p:sp>
      <p:sp>
        <p:nvSpPr>
          <p:cNvPr id="20" name="Shape 18"/>
          <p:cNvSpPr/>
          <p:nvPr/>
        </p:nvSpPr>
        <p:spPr>
          <a:xfrm>
            <a:off x="3941064" y="3369564"/>
            <a:ext cx="3227832" cy="1879092"/>
          </a:xfrm>
          <a:prstGeom prst="rect">
            <a:avLst/>
          </a:prstGeom>
          <a:solidFill>
            <a:srgbClr val="12171A"/>
          </a:solidFill>
          <a:ln w="12700">
            <a:solidFill>
              <a:srgbClr val="2A3236"/>
            </a:solidFill>
            <a:prstDash val="solid"/>
          </a:ln>
        </p:spPr>
      </p:sp>
      <p:sp>
        <p:nvSpPr>
          <p:cNvPr id="21" name="Text 19"/>
          <p:cNvSpPr/>
          <p:nvPr/>
        </p:nvSpPr>
        <p:spPr>
          <a:xfrm>
            <a:off x="4160520" y="3497580"/>
            <a:ext cx="2788920" cy="320040"/>
          </a:xfrm>
          <a:prstGeom prst="rect">
            <a:avLst/>
          </a:prstGeom>
          <a:noFill/>
          <a:ln/>
        </p:spPr>
        <p:txBody>
          <a:bodyPr wrap="square" lIns="0" tIns="0" rIns="0" bIns="0" rtlCol="0" anchor="ctr"/>
          <a:lstStyle/>
          <a:p>
            <a:pPr indent="0" marL="0">
              <a:buNone/>
            </a:pPr>
            <a:r>
              <a:rPr lang="en-US" sz="1300" b="1" dirty="0">
                <a:solidFill>
                  <a:srgbClr val="3FE0E8"/>
                </a:solidFill>
                <a:latin typeface="Courier New" pitchFamily="34" charset="0"/>
                <a:ea typeface="Courier New" pitchFamily="34" charset="-122"/>
                <a:cs typeface="Courier New" pitchFamily="34" charset="-120"/>
              </a:rPr>
              <a:t>ERGONOMICS</a:t>
            </a:r>
            <a:endParaRPr lang="en-US" sz="1300" dirty="0"/>
          </a:p>
        </p:txBody>
      </p:sp>
      <p:sp>
        <p:nvSpPr>
          <p:cNvPr id="22" name="Text 20"/>
          <p:cNvSpPr/>
          <p:nvPr/>
        </p:nvSpPr>
        <p:spPr>
          <a:xfrm>
            <a:off x="4160520" y="3881628"/>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boilerplate</a:t>
            </a:r>
            <a:endParaRPr lang="en-US" sz="1050" dirty="0"/>
          </a:p>
        </p:txBody>
      </p:sp>
      <p:sp>
        <p:nvSpPr>
          <p:cNvPr id="23" name="Text 21"/>
          <p:cNvSpPr/>
          <p:nvPr/>
        </p:nvSpPr>
        <p:spPr>
          <a:xfrm>
            <a:off x="4160520" y="4174236"/>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dependencies</a:t>
            </a:r>
            <a:endParaRPr lang="en-US" sz="1050" dirty="0"/>
          </a:p>
        </p:txBody>
      </p:sp>
      <p:sp>
        <p:nvSpPr>
          <p:cNvPr id="24" name="Text 22"/>
          <p:cNvSpPr/>
          <p:nvPr/>
        </p:nvSpPr>
        <p:spPr>
          <a:xfrm>
            <a:off x="4160520" y="4466844"/>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build effort</a:t>
            </a:r>
            <a:endParaRPr lang="en-US" sz="1050" dirty="0"/>
          </a:p>
        </p:txBody>
      </p:sp>
      <p:sp>
        <p:nvSpPr>
          <p:cNvPr id="25" name="Text 23"/>
          <p:cNvSpPr/>
          <p:nvPr/>
        </p:nvSpPr>
        <p:spPr>
          <a:xfrm>
            <a:off x="4160520" y="4759452"/>
            <a:ext cx="2788920" cy="274320"/>
          </a:xfrm>
          <a:prstGeom prst="rect">
            <a:avLst/>
          </a:prstGeom>
          <a:noFill/>
          <a:ln/>
        </p:spPr>
        <p:txBody>
          <a:bodyPr wrap="square" lIns="0" tIns="0" rIns="0" bIns="0" rtlCol="0" anchor="ctr"/>
          <a:lstStyle/>
          <a:p>
            <a:pPr indent="0" marL="0">
              <a:buNone/>
            </a:pPr>
            <a:r>
              <a:rPr lang="en-US" sz="1050" dirty="0">
                <a:solidFill>
                  <a:srgbClr val="838E96"/>
                </a:solidFill>
                <a:latin typeface="Courier New" pitchFamily="34" charset="0"/>
                <a:ea typeface="Courier New" pitchFamily="34" charset="-122"/>
                <a:cs typeface="Courier New" pitchFamily="34" charset="-120"/>
              </a:rPr>
              <a:t>— maintenance</a:t>
            </a:r>
            <a:endParaRPr lang="en-US" sz="1050" dirty="0"/>
          </a:p>
        </p:txBody>
      </p:sp>
      <p:sp>
        <p:nvSpPr>
          <p:cNvPr id="26" name="Text 24"/>
          <p:cNvSpPr/>
          <p:nvPr/>
        </p:nvSpPr>
        <p:spPr>
          <a:xfrm>
            <a:off x="7680960" y="1325880"/>
            <a:ext cx="3962095" cy="320040"/>
          </a:xfrm>
          <a:prstGeom prst="rect">
            <a:avLst/>
          </a:prstGeom>
          <a:noFill/>
          <a:ln/>
        </p:spPr>
        <p:txBody>
          <a:bodyPr wrap="square" lIns="0" tIns="0" rIns="0" bIns="0" rtlCol="0" anchor="ctr"/>
          <a:lstStyle/>
          <a:p>
            <a:pPr indent="0" marL="0">
              <a:buNone/>
            </a:pPr>
            <a:r>
              <a:rPr lang="en-US" sz="1200" b="1" dirty="0">
                <a:solidFill>
                  <a:srgbClr val="EDEFF1"/>
                </a:solidFill>
                <a:latin typeface="Courier New" pitchFamily="34" charset="0"/>
                <a:ea typeface="Courier New" pitchFamily="34" charset="-122"/>
                <a:cs typeface="Courier New" pitchFamily="34" charset="-120"/>
              </a:rPr>
              <a:t>LATENCY PIPELINE</a:t>
            </a:r>
            <a:endParaRPr lang="en-US" sz="1200" dirty="0"/>
          </a:p>
        </p:txBody>
      </p:sp>
      <p:sp>
        <p:nvSpPr>
          <p:cNvPr id="27" name="Shape 25"/>
          <p:cNvSpPr/>
          <p:nvPr/>
        </p:nvSpPr>
        <p:spPr>
          <a:xfrm>
            <a:off x="7680960" y="1828800"/>
            <a:ext cx="3962095" cy="502920"/>
          </a:xfrm>
          <a:prstGeom prst="rect">
            <a:avLst/>
          </a:prstGeom>
          <a:solidFill>
            <a:srgbClr val="161C1F"/>
          </a:solidFill>
          <a:ln w="9525">
            <a:solidFill>
              <a:srgbClr val="2A3236"/>
            </a:solidFill>
            <a:prstDash val="solid"/>
          </a:ln>
        </p:spPr>
      </p:sp>
      <p:sp>
        <p:nvSpPr>
          <p:cNvPr id="28" name="Text 26"/>
          <p:cNvSpPr/>
          <p:nvPr/>
        </p:nvSpPr>
        <p:spPr>
          <a:xfrm>
            <a:off x="7680960" y="1828800"/>
            <a:ext cx="3962095" cy="502920"/>
          </a:xfrm>
          <a:prstGeom prst="rect">
            <a:avLst/>
          </a:prstGeom>
          <a:noFill/>
          <a:ln/>
        </p:spPr>
        <p:txBody>
          <a:bodyPr wrap="square" lIns="0" tIns="0" rIns="0" bIns="0" rtlCol="0" anchor="ctr"/>
          <a:lstStyle/>
          <a:p>
            <a:pPr algn="ctr" indent="0" marL="0">
              <a:buNone/>
            </a:pPr>
            <a:r>
              <a:rPr lang="en-US" sz="1100" dirty="0">
                <a:solidFill>
                  <a:srgbClr val="EDEFF1"/>
                </a:solidFill>
                <a:latin typeface="Courier New" pitchFamily="34" charset="0"/>
                <a:ea typeface="Courier New" pitchFamily="34" charset="-122"/>
                <a:cs typeface="Courier New" pitchFamily="34" charset="-120"/>
              </a:rPr>
              <a:t>PREPROCESS</a:t>
            </a:r>
            <a:endParaRPr lang="en-US" sz="1100" dirty="0"/>
          </a:p>
        </p:txBody>
      </p:sp>
      <p:sp>
        <p:nvSpPr>
          <p:cNvPr id="29" name="Shape 27"/>
          <p:cNvSpPr/>
          <p:nvPr/>
        </p:nvSpPr>
        <p:spPr>
          <a:xfrm>
            <a:off x="9662008" y="2331720"/>
            <a:ext cx="0" cy="164592"/>
          </a:xfrm>
          <a:prstGeom prst="line">
            <a:avLst/>
          </a:prstGeom>
          <a:noFill/>
          <a:ln w="12700">
            <a:solidFill>
              <a:srgbClr val="838E96"/>
            </a:solidFill>
            <a:prstDash val="solid"/>
            <a:tailEnd type="triangle"/>
          </a:ln>
        </p:spPr>
      </p:sp>
      <p:sp>
        <p:nvSpPr>
          <p:cNvPr id="30" name="Shape 28"/>
          <p:cNvSpPr/>
          <p:nvPr/>
        </p:nvSpPr>
        <p:spPr>
          <a:xfrm>
            <a:off x="7680960" y="2496312"/>
            <a:ext cx="3962095" cy="502920"/>
          </a:xfrm>
          <a:prstGeom prst="rect">
            <a:avLst/>
          </a:prstGeom>
          <a:solidFill>
            <a:srgbClr val="161C1F"/>
          </a:solidFill>
          <a:ln w="9525">
            <a:solidFill>
              <a:srgbClr val="2A3236"/>
            </a:solidFill>
            <a:prstDash val="solid"/>
          </a:ln>
        </p:spPr>
      </p:sp>
      <p:sp>
        <p:nvSpPr>
          <p:cNvPr id="31" name="Text 29"/>
          <p:cNvSpPr/>
          <p:nvPr/>
        </p:nvSpPr>
        <p:spPr>
          <a:xfrm>
            <a:off x="7680960" y="2496312"/>
            <a:ext cx="3962095" cy="502920"/>
          </a:xfrm>
          <a:prstGeom prst="rect">
            <a:avLst/>
          </a:prstGeom>
          <a:noFill/>
          <a:ln/>
        </p:spPr>
        <p:txBody>
          <a:bodyPr wrap="square" lIns="0" tIns="0" rIns="0" bIns="0" rtlCol="0" anchor="ctr"/>
          <a:lstStyle/>
          <a:p>
            <a:pPr algn="ctr" indent="0" marL="0">
              <a:buNone/>
            </a:pPr>
            <a:r>
              <a:rPr lang="en-US" sz="1100" dirty="0">
                <a:solidFill>
                  <a:srgbClr val="EDEFF1"/>
                </a:solidFill>
                <a:latin typeface="Courier New" pitchFamily="34" charset="0"/>
                <a:ea typeface="Courier New" pitchFamily="34" charset="-122"/>
                <a:cs typeface="Courier New" pitchFamily="34" charset="-120"/>
              </a:rPr>
              <a:t>EMBED</a:t>
            </a:r>
            <a:endParaRPr lang="en-US" sz="1100" dirty="0"/>
          </a:p>
        </p:txBody>
      </p:sp>
      <p:sp>
        <p:nvSpPr>
          <p:cNvPr id="32" name="Shape 30"/>
          <p:cNvSpPr/>
          <p:nvPr/>
        </p:nvSpPr>
        <p:spPr>
          <a:xfrm>
            <a:off x="9662008" y="2999232"/>
            <a:ext cx="0" cy="164592"/>
          </a:xfrm>
          <a:prstGeom prst="line">
            <a:avLst/>
          </a:prstGeom>
          <a:noFill/>
          <a:ln w="12700">
            <a:solidFill>
              <a:srgbClr val="838E96"/>
            </a:solidFill>
            <a:prstDash val="solid"/>
            <a:tailEnd type="triangle"/>
          </a:ln>
        </p:spPr>
      </p:sp>
      <p:sp>
        <p:nvSpPr>
          <p:cNvPr id="33" name="Shape 31"/>
          <p:cNvSpPr/>
          <p:nvPr/>
        </p:nvSpPr>
        <p:spPr>
          <a:xfrm>
            <a:off x="7680960" y="3163824"/>
            <a:ext cx="3962095" cy="502920"/>
          </a:xfrm>
          <a:prstGeom prst="rect">
            <a:avLst/>
          </a:prstGeom>
          <a:solidFill>
            <a:srgbClr val="161C1F"/>
          </a:solidFill>
          <a:ln w="9525">
            <a:solidFill>
              <a:srgbClr val="2A3236"/>
            </a:solidFill>
            <a:prstDash val="solid"/>
          </a:ln>
        </p:spPr>
      </p:sp>
      <p:sp>
        <p:nvSpPr>
          <p:cNvPr id="34" name="Text 32"/>
          <p:cNvSpPr/>
          <p:nvPr/>
        </p:nvSpPr>
        <p:spPr>
          <a:xfrm>
            <a:off x="7680960" y="3163824"/>
            <a:ext cx="3962095" cy="502920"/>
          </a:xfrm>
          <a:prstGeom prst="rect">
            <a:avLst/>
          </a:prstGeom>
          <a:noFill/>
          <a:ln/>
        </p:spPr>
        <p:txBody>
          <a:bodyPr wrap="square" lIns="0" tIns="0" rIns="0" bIns="0" rtlCol="0" anchor="ctr"/>
          <a:lstStyle/>
          <a:p>
            <a:pPr algn="ctr" indent="0" marL="0">
              <a:buNone/>
            </a:pPr>
            <a:r>
              <a:rPr lang="en-US" sz="1100" dirty="0">
                <a:solidFill>
                  <a:srgbClr val="EDEFF1"/>
                </a:solidFill>
                <a:latin typeface="Courier New" pitchFamily="34" charset="0"/>
                <a:ea typeface="Courier New" pitchFamily="34" charset="-122"/>
                <a:cs typeface="Courier New" pitchFamily="34" charset="-120"/>
              </a:rPr>
              <a:t>RETRIEVE</a:t>
            </a:r>
            <a:endParaRPr lang="en-US" sz="1100" dirty="0"/>
          </a:p>
        </p:txBody>
      </p:sp>
      <p:sp>
        <p:nvSpPr>
          <p:cNvPr id="35" name="Shape 33"/>
          <p:cNvSpPr/>
          <p:nvPr/>
        </p:nvSpPr>
        <p:spPr>
          <a:xfrm>
            <a:off x="9662008" y="3666744"/>
            <a:ext cx="0" cy="164592"/>
          </a:xfrm>
          <a:prstGeom prst="line">
            <a:avLst/>
          </a:prstGeom>
          <a:noFill/>
          <a:ln w="12700">
            <a:solidFill>
              <a:srgbClr val="838E96"/>
            </a:solidFill>
            <a:prstDash val="solid"/>
            <a:tailEnd type="triangle"/>
          </a:ln>
        </p:spPr>
      </p:sp>
      <p:sp>
        <p:nvSpPr>
          <p:cNvPr id="36" name="Shape 34"/>
          <p:cNvSpPr/>
          <p:nvPr/>
        </p:nvSpPr>
        <p:spPr>
          <a:xfrm>
            <a:off x="7680960" y="3831336"/>
            <a:ext cx="3962095" cy="502920"/>
          </a:xfrm>
          <a:prstGeom prst="rect">
            <a:avLst/>
          </a:prstGeom>
          <a:solidFill>
            <a:srgbClr val="161C1F"/>
          </a:solidFill>
          <a:ln w="9525">
            <a:solidFill>
              <a:srgbClr val="2A3236"/>
            </a:solidFill>
            <a:prstDash val="solid"/>
          </a:ln>
        </p:spPr>
      </p:sp>
      <p:sp>
        <p:nvSpPr>
          <p:cNvPr id="37" name="Text 35"/>
          <p:cNvSpPr/>
          <p:nvPr/>
        </p:nvSpPr>
        <p:spPr>
          <a:xfrm>
            <a:off x="7680960" y="3831336"/>
            <a:ext cx="3962095" cy="502920"/>
          </a:xfrm>
          <a:prstGeom prst="rect">
            <a:avLst/>
          </a:prstGeom>
          <a:noFill/>
          <a:ln/>
        </p:spPr>
        <p:txBody>
          <a:bodyPr wrap="square" lIns="0" tIns="0" rIns="0" bIns="0" rtlCol="0" anchor="ctr"/>
          <a:lstStyle/>
          <a:p>
            <a:pPr algn="ctr" indent="0" marL="0">
              <a:buNone/>
            </a:pPr>
            <a:r>
              <a:rPr lang="en-US" sz="1100" dirty="0">
                <a:solidFill>
                  <a:srgbClr val="EDEFF1"/>
                </a:solidFill>
                <a:latin typeface="Courier New" pitchFamily="34" charset="0"/>
                <a:ea typeface="Courier New" pitchFamily="34" charset="-122"/>
                <a:cs typeface="Courier New" pitchFamily="34" charset="-120"/>
              </a:rPr>
              <a:t>ASSEMBLE</a:t>
            </a:r>
            <a:endParaRPr lang="en-US" sz="1100" dirty="0"/>
          </a:p>
        </p:txBody>
      </p:sp>
      <p:sp>
        <p:nvSpPr>
          <p:cNvPr id="38" name="Shape 36"/>
          <p:cNvSpPr/>
          <p:nvPr/>
        </p:nvSpPr>
        <p:spPr>
          <a:xfrm>
            <a:off x="9662008" y="4334256"/>
            <a:ext cx="0" cy="164592"/>
          </a:xfrm>
          <a:prstGeom prst="line">
            <a:avLst/>
          </a:prstGeom>
          <a:noFill/>
          <a:ln w="12700">
            <a:solidFill>
              <a:srgbClr val="838E96"/>
            </a:solidFill>
            <a:prstDash val="solid"/>
            <a:tailEnd type="triangle"/>
          </a:ln>
        </p:spPr>
      </p:sp>
      <p:sp>
        <p:nvSpPr>
          <p:cNvPr id="39" name="Shape 37"/>
          <p:cNvSpPr/>
          <p:nvPr/>
        </p:nvSpPr>
        <p:spPr>
          <a:xfrm>
            <a:off x="7680960" y="4498848"/>
            <a:ext cx="3962095" cy="502920"/>
          </a:xfrm>
          <a:prstGeom prst="rect">
            <a:avLst/>
          </a:prstGeom>
          <a:solidFill>
            <a:srgbClr val="161C1F"/>
          </a:solidFill>
          <a:ln w="9525">
            <a:solidFill>
              <a:srgbClr val="2A3236"/>
            </a:solidFill>
            <a:prstDash val="solid"/>
          </a:ln>
        </p:spPr>
      </p:sp>
      <p:sp>
        <p:nvSpPr>
          <p:cNvPr id="40" name="Text 38"/>
          <p:cNvSpPr/>
          <p:nvPr/>
        </p:nvSpPr>
        <p:spPr>
          <a:xfrm>
            <a:off x="7680960" y="4498848"/>
            <a:ext cx="3962095" cy="502920"/>
          </a:xfrm>
          <a:prstGeom prst="rect">
            <a:avLst/>
          </a:prstGeom>
          <a:noFill/>
          <a:ln/>
        </p:spPr>
        <p:txBody>
          <a:bodyPr wrap="square" lIns="0" tIns="0" rIns="0" bIns="0" rtlCol="0" anchor="ctr"/>
          <a:lstStyle/>
          <a:p>
            <a:pPr algn="ctr" indent="0" marL="0">
              <a:buNone/>
            </a:pPr>
            <a:r>
              <a:rPr lang="en-US" sz="1100" dirty="0">
                <a:solidFill>
                  <a:srgbClr val="EDEFF1"/>
                </a:solidFill>
                <a:latin typeface="Courier New" pitchFamily="34" charset="0"/>
                <a:ea typeface="Courier New" pitchFamily="34" charset="-122"/>
                <a:cs typeface="Courier New" pitchFamily="34" charset="-120"/>
              </a:rPr>
              <a:t>GENERATE</a:t>
            </a:r>
            <a:endParaRPr lang="en-US" sz="1100" dirty="0"/>
          </a:p>
        </p:txBody>
      </p:sp>
      <p:sp>
        <p:nvSpPr>
          <p:cNvPr id="41" name="Text 39"/>
          <p:cNvSpPr/>
          <p:nvPr/>
        </p:nvSpPr>
        <p:spPr>
          <a:xfrm>
            <a:off x="548640" y="6492240"/>
            <a:ext cx="5486400" cy="228600"/>
          </a:xfrm>
          <a:prstGeom prst="rect">
            <a:avLst/>
          </a:prstGeom>
          <a:noFill/>
          <a:ln/>
        </p:spPr>
        <p:txBody>
          <a:bodyPr wrap="square" lIns="0" tIns="0" rIns="0" bIns="0" rtlCol="0" anchor="ctr"/>
          <a:lstStyle/>
          <a:p>
            <a:pPr algn="l" indent="0" marL="0">
              <a:buNone/>
            </a:pPr>
            <a:r>
              <a:rPr lang="en-US" sz="900" spc="50" kern="0" dirty="0">
                <a:solidFill>
                  <a:srgbClr val="5A646A"/>
                </a:solidFill>
                <a:latin typeface="Courier New" pitchFamily="34" charset="0"/>
                <a:ea typeface="Courier New" pitchFamily="34" charset="-122"/>
                <a:cs typeface="Courier New" pitchFamily="34" charset="-120"/>
              </a:rPr>
              <a:t>plan, not results — no measured numbers claimed yet</a:t>
            </a:r>
            <a:endParaRPr lang="en-US" sz="900" dirty="0"/>
          </a:p>
        </p:txBody>
      </p:sp>
      <p:sp>
        <p:nvSpPr>
          <p:cNvPr id="42" name="Text 40"/>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0"/>
        </a:solidFill>
      </p:bgPr>
    </p:bg>
    <p:spTree>
      <p:nvGrpSpPr>
        <p:cNvPr id="1" name=""/>
        <p:cNvGrpSpPr/>
        <p:nvPr/>
      </p:nvGrpSpPr>
      <p:grpSpPr>
        <a:xfrm>
          <a:off x="0" y="0"/>
          <a:ext cx="0" cy="0"/>
          <a:chOff x="0" y="0"/>
          <a:chExt cx="0" cy="0"/>
        </a:xfrm>
      </p:grpSpPr>
      <p:sp>
        <p:nvSpPr>
          <p:cNvPr id="2" name="Text 0"/>
          <p:cNvSpPr/>
          <p:nvPr/>
        </p:nvSpPr>
        <p:spPr>
          <a:xfrm>
            <a:off x="548640" y="411480"/>
            <a:ext cx="3657600" cy="274320"/>
          </a:xfrm>
          <a:prstGeom prst="rect">
            <a:avLst/>
          </a:prstGeom>
          <a:noFill/>
          <a:ln/>
        </p:spPr>
        <p:txBody>
          <a:bodyPr wrap="square" lIns="0" tIns="0" rIns="0" bIns="0" rtlCol="0" anchor="ctr"/>
          <a:lstStyle/>
          <a:p>
            <a:pPr algn="l" indent="0" marL="0">
              <a:buNone/>
            </a:pPr>
            <a:r>
              <a:rPr lang="en-US" sz="1100" spc="200" kern="0" dirty="0">
                <a:solidFill>
                  <a:srgbClr val="3FE0E8"/>
                </a:solidFill>
                <a:latin typeface="Courier New" pitchFamily="34" charset="0"/>
                <a:ea typeface="Courier New" pitchFamily="34" charset="-122"/>
                <a:cs typeface="Courier New" pitchFamily="34" charset="-120"/>
              </a:rPr>
              <a:t>09 — THE LIMIT</a:t>
            </a:r>
            <a:endParaRPr lang="en-US" sz="1100" dirty="0"/>
          </a:p>
        </p:txBody>
      </p:sp>
      <p:sp>
        <p:nvSpPr>
          <p:cNvPr id="3" name="Shape 1"/>
          <p:cNvSpPr/>
          <p:nvPr/>
        </p:nvSpPr>
        <p:spPr>
          <a:xfrm>
            <a:off x="548640" y="749808"/>
            <a:ext cx="11094415" cy="0"/>
          </a:xfrm>
          <a:prstGeom prst="line">
            <a:avLst/>
          </a:prstGeom>
          <a:noFill/>
          <a:ln w="9525">
            <a:solidFill>
              <a:srgbClr val="1D2427"/>
            </a:solidFill>
            <a:prstDash val="solid"/>
          </a:ln>
        </p:spPr>
      </p:sp>
      <p:sp>
        <p:nvSpPr>
          <p:cNvPr id="4" name="Text 2"/>
          <p:cNvSpPr/>
          <p:nvPr/>
        </p:nvSpPr>
        <p:spPr>
          <a:xfrm>
            <a:off x="548640" y="960120"/>
            <a:ext cx="11094415" cy="548640"/>
          </a:xfrm>
          <a:prstGeom prst="rect">
            <a:avLst/>
          </a:prstGeom>
          <a:noFill/>
          <a:ln/>
        </p:spPr>
        <p:txBody>
          <a:bodyPr wrap="square" lIns="0" tIns="0" rIns="0" bIns="0" rtlCol="0" anchor="ctr"/>
          <a:lstStyle/>
          <a:p>
            <a:pPr indent="0" marL="0">
              <a:buNone/>
            </a:pPr>
            <a:r>
              <a:rPr lang="en-US" sz="2600" b="1" dirty="0">
                <a:solidFill>
                  <a:srgbClr val="EDEFF1"/>
                </a:solidFill>
                <a:latin typeface="Calibri" pitchFamily="34" charset="0"/>
                <a:ea typeface="Calibri" pitchFamily="34" charset="-122"/>
                <a:cs typeface="Calibri" pitchFamily="34" charset="-120"/>
              </a:rPr>
              <a:t>WHAT THIS EXPERIMENT DOES NOT PROVE</a:t>
            </a:r>
            <a:endParaRPr lang="en-US" sz="2600" dirty="0"/>
          </a:p>
        </p:txBody>
      </p:sp>
      <p:sp>
        <p:nvSpPr>
          <p:cNvPr id="5" name="Shape 3"/>
          <p:cNvSpPr/>
          <p:nvPr/>
        </p:nvSpPr>
        <p:spPr>
          <a:xfrm>
            <a:off x="548640" y="1874520"/>
            <a:ext cx="2499284" cy="3108960"/>
          </a:xfrm>
          <a:prstGeom prst="rect">
            <a:avLst/>
          </a:prstGeom>
          <a:solidFill>
            <a:srgbClr val="12171A"/>
          </a:solidFill>
          <a:ln w="12700">
            <a:solidFill>
              <a:srgbClr val="2A3236"/>
            </a:solidFill>
            <a:prstDash val="solid"/>
          </a:ln>
        </p:spPr>
      </p:sp>
      <p:sp>
        <p:nvSpPr>
          <p:cNvPr id="6" name="Text 4"/>
          <p:cNvSpPr/>
          <p:nvPr/>
        </p:nvSpPr>
        <p:spPr>
          <a:xfrm>
            <a:off x="685800" y="2103120"/>
            <a:ext cx="2224964" cy="2103120"/>
          </a:xfrm>
          <a:prstGeom prst="rect">
            <a:avLst/>
          </a:prstGeom>
          <a:noFill/>
          <a:ln/>
        </p:spPr>
        <p:txBody>
          <a:bodyPr wrap="square" lIns="0" tIns="0" rIns="0" bIns="0" rtlCol="0" anchor="t"/>
          <a:lstStyle/>
          <a:p>
            <a:pPr algn="l" indent="0" marL="0">
              <a:buNone/>
            </a:pPr>
            <a:r>
              <a:rPr lang="en-US" sz="1300" dirty="0">
                <a:solidFill>
                  <a:srgbClr val="EDEFF1"/>
                </a:solidFill>
                <a:latin typeface="Courier New" pitchFamily="34" charset="0"/>
                <a:ea typeface="Courier New" pitchFamily="34" charset="-122"/>
                <a:cs typeface="Courier New" pitchFamily="34" charset="-120"/>
              </a:rPr>
              <a:t>C++ &gt; Python universally</a:t>
            </a:r>
            <a:endParaRPr lang="en-US" sz="1300" dirty="0"/>
          </a:p>
        </p:txBody>
      </p:sp>
      <p:sp>
        <p:nvSpPr>
          <p:cNvPr id="7" name="Text 5"/>
          <p:cNvSpPr/>
          <p:nvPr/>
        </p:nvSpPr>
        <p:spPr>
          <a:xfrm>
            <a:off x="548640" y="4023360"/>
            <a:ext cx="2499284" cy="777240"/>
          </a:xfrm>
          <a:prstGeom prst="rect">
            <a:avLst/>
          </a:prstGeom>
          <a:noFill/>
          <a:ln/>
        </p:spPr>
        <p:txBody>
          <a:bodyPr wrap="square" lIns="0" tIns="0" rIns="0" bIns="0" rtlCol="0" anchor="ctr"/>
          <a:lstStyle/>
          <a:p>
            <a:pPr algn="ctr" indent="0" marL="0">
              <a:buNone/>
            </a:pPr>
            <a:r>
              <a:rPr lang="en-US" sz="4400" b="1" dirty="0">
                <a:solidFill>
                  <a:srgbClr val="E85D5D"/>
                </a:solidFill>
                <a:latin typeface="Calibri" pitchFamily="34" charset="0"/>
                <a:ea typeface="Calibri" pitchFamily="34" charset="-122"/>
                <a:cs typeface="Calibri" pitchFamily="34" charset="-120"/>
              </a:rPr>
              <a:t>✕</a:t>
            </a:r>
            <a:endParaRPr lang="en-US" sz="4400" dirty="0"/>
          </a:p>
        </p:txBody>
      </p:sp>
      <p:sp>
        <p:nvSpPr>
          <p:cNvPr id="8" name="Shape 6"/>
          <p:cNvSpPr/>
          <p:nvPr/>
        </p:nvSpPr>
        <p:spPr>
          <a:xfrm>
            <a:off x="3413684" y="1874520"/>
            <a:ext cx="2499284" cy="3108960"/>
          </a:xfrm>
          <a:prstGeom prst="rect">
            <a:avLst/>
          </a:prstGeom>
          <a:solidFill>
            <a:srgbClr val="12171A"/>
          </a:solidFill>
          <a:ln w="12700">
            <a:solidFill>
              <a:srgbClr val="2A3236"/>
            </a:solidFill>
            <a:prstDash val="solid"/>
          </a:ln>
        </p:spPr>
      </p:sp>
      <p:sp>
        <p:nvSpPr>
          <p:cNvPr id="9" name="Text 7"/>
          <p:cNvSpPr/>
          <p:nvPr/>
        </p:nvSpPr>
        <p:spPr>
          <a:xfrm>
            <a:off x="3550844" y="2103120"/>
            <a:ext cx="2224964" cy="2103120"/>
          </a:xfrm>
          <a:prstGeom prst="rect">
            <a:avLst/>
          </a:prstGeom>
          <a:noFill/>
          <a:ln/>
        </p:spPr>
        <p:txBody>
          <a:bodyPr wrap="square" lIns="0" tIns="0" rIns="0" bIns="0" rtlCol="0" anchor="t"/>
          <a:lstStyle/>
          <a:p>
            <a:pPr algn="l" indent="0" marL="0">
              <a:buNone/>
            </a:pPr>
            <a:r>
              <a:rPr lang="en-US" sz="1300" dirty="0">
                <a:solidFill>
                  <a:srgbClr val="EDEFF1"/>
                </a:solidFill>
                <a:latin typeface="Courier New" pitchFamily="34" charset="0"/>
                <a:ea typeface="Courier New" pitchFamily="34" charset="-122"/>
                <a:cs typeface="Courier New" pitchFamily="34" charset="-120"/>
              </a:rPr>
              <a:t>Production-scale performance</a:t>
            </a:r>
            <a:endParaRPr lang="en-US" sz="1300" dirty="0"/>
          </a:p>
        </p:txBody>
      </p:sp>
      <p:sp>
        <p:nvSpPr>
          <p:cNvPr id="10" name="Text 8"/>
          <p:cNvSpPr/>
          <p:nvPr/>
        </p:nvSpPr>
        <p:spPr>
          <a:xfrm>
            <a:off x="3413684" y="4023360"/>
            <a:ext cx="2499284" cy="777240"/>
          </a:xfrm>
          <a:prstGeom prst="rect">
            <a:avLst/>
          </a:prstGeom>
          <a:noFill/>
          <a:ln/>
        </p:spPr>
        <p:txBody>
          <a:bodyPr wrap="square" lIns="0" tIns="0" rIns="0" bIns="0" rtlCol="0" anchor="ctr"/>
          <a:lstStyle/>
          <a:p>
            <a:pPr algn="ctr" indent="0" marL="0">
              <a:buNone/>
            </a:pPr>
            <a:r>
              <a:rPr lang="en-US" sz="4400" b="1" dirty="0">
                <a:solidFill>
                  <a:srgbClr val="E85D5D"/>
                </a:solidFill>
                <a:latin typeface="Calibri" pitchFamily="34" charset="0"/>
                <a:ea typeface="Calibri" pitchFamily="34" charset="-122"/>
                <a:cs typeface="Calibri" pitchFamily="34" charset="-120"/>
              </a:rPr>
              <a:t>✕</a:t>
            </a:r>
            <a:endParaRPr lang="en-US" sz="4400" dirty="0"/>
          </a:p>
        </p:txBody>
      </p:sp>
      <p:sp>
        <p:nvSpPr>
          <p:cNvPr id="11" name="Shape 9"/>
          <p:cNvSpPr/>
          <p:nvPr/>
        </p:nvSpPr>
        <p:spPr>
          <a:xfrm>
            <a:off x="6278728" y="1874520"/>
            <a:ext cx="2499284" cy="3108960"/>
          </a:xfrm>
          <a:prstGeom prst="rect">
            <a:avLst/>
          </a:prstGeom>
          <a:solidFill>
            <a:srgbClr val="12171A"/>
          </a:solidFill>
          <a:ln w="12700">
            <a:solidFill>
              <a:srgbClr val="2A3236"/>
            </a:solidFill>
            <a:prstDash val="solid"/>
          </a:ln>
        </p:spPr>
      </p:sp>
      <p:sp>
        <p:nvSpPr>
          <p:cNvPr id="12" name="Text 10"/>
          <p:cNvSpPr/>
          <p:nvPr/>
        </p:nvSpPr>
        <p:spPr>
          <a:xfrm>
            <a:off x="6415888" y="2103120"/>
            <a:ext cx="2224964" cy="2103120"/>
          </a:xfrm>
          <a:prstGeom prst="rect">
            <a:avLst/>
          </a:prstGeom>
          <a:noFill/>
          <a:ln/>
        </p:spPr>
        <p:txBody>
          <a:bodyPr wrap="square" lIns="0" tIns="0" rIns="0" bIns="0" rtlCol="0" anchor="t"/>
          <a:lstStyle/>
          <a:p>
            <a:pPr algn="l" indent="0" marL="0">
              <a:buNone/>
            </a:pPr>
            <a:r>
              <a:rPr lang="en-US" sz="1300" dirty="0">
                <a:solidFill>
                  <a:srgbClr val="EDEFF1"/>
                </a:solidFill>
                <a:latin typeface="Courier New" pitchFamily="34" charset="0"/>
                <a:ea typeface="Courier New" pitchFamily="34" charset="-122"/>
                <a:cs typeface="Courier New" pitchFamily="34" charset="-120"/>
              </a:rPr>
              <a:t>Hallucinations solved</a:t>
            </a:r>
            <a:endParaRPr lang="en-US" sz="1300" dirty="0"/>
          </a:p>
        </p:txBody>
      </p:sp>
      <p:sp>
        <p:nvSpPr>
          <p:cNvPr id="13" name="Text 11"/>
          <p:cNvSpPr/>
          <p:nvPr/>
        </p:nvSpPr>
        <p:spPr>
          <a:xfrm>
            <a:off x="6278728" y="4023360"/>
            <a:ext cx="2499284" cy="777240"/>
          </a:xfrm>
          <a:prstGeom prst="rect">
            <a:avLst/>
          </a:prstGeom>
          <a:noFill/>
          <a:ln/>
        </p:spPr>
        <p:txBody>
          <a:bodyPr wrap="square" lIns="0" tIns="0" rIns="0" bIns="0" rtlCol="0" anchor="ctr"/>
          <a:lstStyle/>
          <a:p>
            <a:pPr algn="ctr" indent="0" marL="0">
              <a:buNone/>
            </a:pPr>
            <a:r>
              <a:rPr lang="en-US" sz="4400" b="1" dirty="0">
                <a:solidFill>
                  <a:srgbClr val="E85D5D"/>
                </a:solidFill>
                <a:latin typeface="Calibri" pitchFamily="34" charset="0"/>
                <a:ea typeface="Calibri" pitchFamily="34" charset="-122"/>
                <a:cs typeface="Calibri" pitchFamily="34" charset="-120"/>
              </a:rPr>
              <a:t>✕</a:t>
            </a:r>
            <a:endParaRPr lang="en-US" sz="4400" dirty="0"/>
          </a:p>
        </p:txBody>
      </p:sp>
      <p:sp>
        <p:nvSpPr>
          <p:cNvPr id="14" name="Shape 12"/>
          <p:cNvSpPr/>
          <p:nvPr/>
        </p:nvSpPr>
        <p:spPr>
          <a:xfrm>
            <a:off x="9143771" y="1874520"/>
            <a:ext cx="2499284" cy="3108960"/>
          </a:xfrm>
          <a:prstGeom prst="rect">
            <a:avLst/>
          </a:prstGeom>
          <a:solidFill>
            <a:srgbClr val="12171A"/>
          </a:solidFill>
          <a:ln w="12700">
            <a:solidFill>
              <a:srgbClr val="2A3236"/>
            </a:solidFill>
            <a:prstDash val="solid"/>
          </a:ln>
        </p:spPr>
      </p:sp>
      <p:sp>
        <p:nvSpPr>
          <p:cNvPr id="15" name="Text 13"/>
          <p:cNvSpPr/>
          <p:nvPr/>
        </p:nvSpPr>
        <p:spPr>
          <a:xfrm>
            <a:off x="9280931" y="2103120"/>
            <a:ext cx="2224964" cy="2103120"/>
          </a:xfrm>
          <a:prstGeom prst="rect">
            <a:avLst/>
          </a:prstGeom>
          <a:noFill/>
          <a:ln/>
        </p:spPr>
        <p:txBody>
          <a:bodyPr wrap="square" lIns="0" tIns="0" rIns="0" bIns="0" rtlCol="0" anchor="t"/>
          <a:lstStyle/>
          <a:p>
            <a:pPr algn="l" indent="0" marL="0">
              <a:buNone/>
            </a:pPr>
            <a:r>
              <a:rPr lang="en-US" sz="1300" dirty="0">
                <a:solidFill>
                  <a:srgbClr val="EDEFF1"/>
                </a:solidFill>
                <a:latin typeface="Courier New" pitchFamily="34" charset="0"/>
                <a:ea typeface="Courier New" pitchFamily="34" charset="-122"/>
                <a:cs typeface="Courier New" pitchFamily="34" charset="-120"/>
              </a:rPr>
              <a:t>Multi-user production readiness</a:t>
            </a:r>
            <a:endParaRPr lang="en-US" sz="1300" dirty="0"/>
          </a:p>
        </p:txBody>
      </p:sp>
      <p:sp>
        <p:nvSpPr>
          <p:cNvPr id="16" name="Text 14"/>
          <p:cNvSpPr/>
          <p:nvPr/>
        </p:nvSpPr>
        <p:spPr>
          <a:xfrm>
            <a:off x="9143771" y="4023360"/>
            <a:ext cx="2499284" cy="777240"/>
          </a:xfrm>
          <a:prstGeom prst="rect">
            <a:avLst/>
          </a:prstGeom>
          <a:noFill/>
          <a:ln/>
        </p:spPr>
        <p:txBody>
          <a:bodyPr wrap="square" lIns="0" tIns="0" rIns="0" bIns="0" rtlCol="0" anchor="ctr"/>
          <a:lstStyle/>
          <a:p>
            <a:pPr algn="ctr" indent="0" marL="0">
              <a:buNone/>
            </a:pPr>
            <a:r>
              <a:rPr lang="en-US" sz="4400" b="1" dirty="0">
                <a:solidFill>
                  <a:srgbClr val="E85D5D"/>
                </a:solidFill>
                <a:latin typeface="Calibri" pitchFamily="34" charset="0"/>
                <a:ea typeface="Calibri" pitchFamily="34" charset="-122"/>
                <a:cs typeface="Calibri" pitchFamily="34" charset="-120"/>
              </a:rPr>
              <a:t>✕</a:t>
            </a:r>
            <a:endParaRPr lang="en-US" sz="4400" dirty="0"/>
          </a:p>
        </p:txBody>
      </p:sp>
      <p:sp>
        <p:nvSpPr>
          <p:cNvPr id="17" name="Shape 15"/>
          <p:cNvSpPr/>
          <p:nvPr/>
        </p:nvSpPr>
        <p:spPr>
          <a:xfrm>
            <a:off x="548640" y="5257800"/>
            <a:ext cx="11094415" cy="0"/>
          </a:xfrm>
          <a:prstGeom prst="line">
            <a:avLst/>
          </a:prstGeom>
          <a:noFill/>
          <a:ln w="9525">
            <a:solidFill>
              <a:srgbClr val="1D2427"/>
            </a:solidFill>
            <a:prstDash val="solid"/>
          </a:ln>
        </p:spPr>
      </p:sp>
      <p:sp>
        <p:nvSpPr>
          <p:cNvPr id="18" name="Text 16"/>
          <p:cNvSpPr/>
          <p:nvPr/>
        </p:nvSpPr>
        <p:spPr>
          <a:xfrm>
            <a:off x="548640" y="5394960"/>
            <a:ext cx="11094415" cy="365760"/>
          </a:xfrm>
          <a:prstGeom prst="rect">
            <a:avLst/>
          </a:prstGeom>
          <a:noFill/>
          <a:ln/>
        </p:spPr>
        <p:txBody>
          <a:bodyPr wrap="square" lIns="0" tIns="0" rIns="0" bIns="0" rtlCol="0" anchor="ctr"/>
          <a:lstStyle/>
          <a:p>
            <a:pPr algn="ctr" indent="0" marL="0">
              <a:buNone/>
            </a:pPr>
            <a:r>
              <a:rPr lang="en-US" sz="1100" dirty="0">
                <a:solidFill>
                  <a:srgbClr val="5A646A"/>
                </a:solidFill>
                <a:latin typeface="Courier New" pitchFamily="34" charset="0"/>
                <a:ea typeface="Courier New" pitchFamily="34" charset="-122"/>
                <a:cs typeface="Courier New" pitchFamily="34" charset="-120"/>
              </a:rPr>
              <a:t>10–20 document corpus  ·  single-user CLI  ·  experimental scope</a:t>
            </a:r>
            <a:endParaRPr lang="en-US" sz="1100" dirty="0"/>
          </a:p>
        </p:txBody>
      </p:sp>
      <p:sp>
        <p:nvSpPr>
          <p:cNvPr id="19" name="Text 17"/>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0"/>
        </a:solidFill>
      </p:bgPr>
    </p:bg>
    <p:spTree>
      <p:nvGrpSpPr>
        <p:cNvPr id="1" name=""/>
        <p:cNvGrpSpPr/>
        <p:nvPr/>
      </p:nvGrpSpPr>
      <p:grpSpPr>
        <a:xfrm>
          <a:off x="0" y="0"/>
          <a:ext cx="0" cy="0"/>
          <a:chOff x="0" y="0"/>
          <a:chExt cx="0" cy="0"/>
        </a:xfrm>
      </p:grpSpPr>
      <p:sp>
        <p:nvSpPr>
          <p:cNvPr id="2" name="Shape 0"/>
          <p:cNvSpPr/>
          <p:nvPr/>
        </p:nvSpPr>
        <p:spPr>
          <a:xfrm>
            <a:off x="197968" y="1188720"/>
            <a:ext cx="2331720" cy="548640"/>
          </a:xfrm>
          <a:prstGeom prst="rect">
            <a:avLst/>
          </a:prstGeom>
          <a:solidFill>
            <a:srgbClr val="12171A"/>
          </a:solidFill>
          <a:ln w="12700">
            <a:solidFill>
              <a:srgbClr val="2A3236"/>
            </a:solidFill>
            <a:prstDash val="solid"/>
          </a:ln>
        </p:spPr>
      </p:sp>
      <p:sp>
        <p:nvSpPr>
          <p:cNvPr id="3" name="Text 1"/>
          <p:cNvSpPr/>
          <p:nvPr/>
        </p:nvSpPr>
        <p:spPr>
          <a:xfrm>
            <a:off x="197968" y="1188720"/>
            <a:ext cx="2331720" cy="548640"/>
          </a:xfrm>
          <a:prstGeom prst="rect">
            <a:avLst/>
          </a:prstGeom>
          <a:noFill/>
          <a:ln/>
        </p:spPr>
        <p:txBody>
          <a:bodyPr wrap="square" lIns="0" tIns="0" rIns="0" bIns="0" rtlCol="0" anchor="ctr"/>
          <a:lstStyle/>
          <a:p>
            <a:pPr algn="ctr" indent="0" marL="0">
              <a:buNone/>
            </a:pPr>
            <a:r>
              <a:rPr lang="en-US" sz="1250" dirty="0">
                <a:solidFill>
                  <a:srgbClr val="EDEFF1"/>
                </a:solidFill>
                <a:latin typeface="Courier New" pitchFamily="34" charset="0"/>
                <a:ea typeface="Courier New" pitchFamily="34" charset="-122"/>
                <a:cs typeface="Courier New" pitchFamily="34" charset="-120"/>
              </a:rPr>
              <a:t>ARCHITECTURE</a:t>
            </a:r>
            <a:endParaRPr lang="en-US" sz="1250" dirty="0"/>
          </a:p>
        </p:txBody>
      </p:sp>
      <p:sp>
        <p:nvSpPr>
          <p:cNvPr id="4" name="Text 2"/>
          <p:cNvSpPr/>
          <p:nvPr/>
        </p:nvSpPr>
        <p:spPr>
          <a:xfrm>
            <a:off x="2529688" y="1188720"/>
            <a:ext cx="365760" cy="548640"/>
          </a:xfrm>
          <a:prstGeom prst="rect">
            <a:avLst/>
          </a:prstGeom>
          <a:noFill/>
          <a:ln/>
        </p:spPr>
        <p:txBody>
          <a:bodyPr wrap="square" lIns="0" tIns="0" rIns="0" bIns="0" rtlCol="0" anchor="ctr"/>
          <a:lstStyle/>
          <a:p>
            <a:pPr algn="ctr" indent="0" marL="0">
              <a:buNone/>
            </a:pPr>
            <a:r>
              <a:rPr lang="en-US" sz="2000" dirty="0">
                <a:solidFill>
                  <a:srgbClr val="5A646A"/>
                </a:solidFill>
                <a:latin typeface="Calibri" pitchFamily="34" charset="0"/>
                <a:ea typeface="Calibri" pitchFamily="34" charset="-122"/>
                <a:cs typeface="Calibri" pitchFamily="34" charset="-120"/>
              </a:rPr>
              <a:t>+</a:t>
            </a:r>
            <a:endParaRPr lang="en-US" sz="2000" dirty="0"/>
          </a:p>
        </p:txBody>
      </p:sp>
      <p:sp>
        <p:nvSpPr>
          <p:cNvPr id="5" name="Shape 3"/>
          <p:cNvSpPr/>
          <p:nvPr/>
        </p:nvSpPr>
        <p:spPr>
          <a:xfrm>
            <a:off x="2986888" y="1188720"/>
            <a:ext cx="2331720" cy="548640"/>
          </a:xfrm>
          <a:prstGeom prst="rect">
            <a:avLst/>
          </a:prstGeom>
          <a:solidFill>
            <a:srgbClr val="12171A"/>
          </a:solidFill>
          <a:ln w="12700">
            <a:solidFill>
              <a:srgbClr val="2A3236"/>
            </a:solidFill>
            <a:prstDash val="solid"/>
          </a:ln>
        </p:spPr>
      </p:sp>
      <p:sp>
        <p:nvSpPr>
          <p:cNvPr id="6" name="Text 4"/>
          <p:cNvSpPr/>
          <p:nvPr/>
        </p:nvSpPr>
        <p:spPr>
          <a:xfrm>
            <a:off x="2986888" y="1188720"/>
            <a:ext cx="2331720" cy="548640"/>
          </a:xfrm>
          <a:prstGeom prst="rect">
            <a:avLst/>
          </a:prstGeom>
          <a:noFill/>
          <a:ln/>
        </p:spPr>
        <p:txBody>
          <a:bodyPr wrap="square" lIns="0" tIns="0" rIns="0" bIns="0" rtlCol="0" anchor="ctr"/>
          <a:lstStyle/>
          <a:p>
            <a:pPr algn="ctr" indent="0" marL="0">
              <a:buNone/>
            </a:pPr>
            <a:r>
              <a:rPr lang="en-US" sz="1250" dirty="0">
                <a:solidFill>
                  <a:srgbClr val="EDEFF1"/>
                </a:solidFill>
                <a:latin typeface="Courier New" pitchFamily="34" charset="0"/>
                <a:ea typeface="Courier New" pitchFamily="34" charset="-122"/>
                <a:cs typeface="Courier New" pitchFamily="34" charset="-120"/>
              </a:rPr>
              <a:t>IMPLEMENTATION</a:t>
            </a:r>
            <a:endParaRPr lang="en-US" sz="1250" dirty="0"/>
          </a:p>
        </p:txBody>
      </p:sp>
      <p:sp>
        <p:nvSpPr>
          <p:cNvPr id="7" name="Text 5"/>
          <p:cNvSpPr/>
          <p:nvPr/>
        </p:nvSpPr>
        <p:spPr>
          <a:xfrm>
            <a:off x="5318608" y="1188720"/>
            <a:ext cx="365760" cy="548640"/>
          </a:xfrm>
          <a:prstGeom prst="rect">
            <a:avLst/>
          </a:prstGeom>
          <a:noFill/>
          <a:ln/>
        </p:spPr>
        <p:txBody>
          <a:bodyPr wrap="square" lIns="0" tIns="0" rIns="0" bIns="0" rtlCol="0" anchor="ctr"/>
          <a:lstStyle/>
          <a:p>
            <a:pPr algn="ctr" indent="0" marL="0">
              <a:buNone/>
            </a:pPr>
            <a:r>
              <a:rPr lang="en-US" sz="2000" dirty="0">
                <a:solidFill>
                  <a:srgbClr val="5A646A"/>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5775808" y="1188720"/>
            <a:ext cx="2331720" cy="548640"/>
          </a:xfrm>
          <a:prstGeom prst="rect">
            <a:avLst/>
          </a:prstGeom>
          <a:solidFill>
            <a:srgbClr val="12171A"/>
          </a:solidFill>
          <a:ln w="12700">
            <a:solidFill>
              <a:srgbClr val="2A3236"/>
            </a:solidFill>
            <a:prstDash val="solid"/>
          </a:ln>
        </p:spPr>
      </p:sp>
      <p:sp>
        <p:nvSpPr>
          <p:cNvPr id="9" name="Text 7"/>
          <p:cNvSpPr/>
          <p:nvPr/>
        </p:nvSpPr>
        <p:spPr>
          <a:xfrm>
            <a:off x="5775808" y="1188720"/>
            <a:ext cx="2331720" cy="548640"/>
          </a:xfrm>
          <a:prstGeom prst="rect">
            <a:avLst/>
          </a:prstGeom>
          <a:noFill/>
          <a:ln/>
        </p:spPr>
        <p:txBody>
          <a:bodyPr wrap="square" lIns="0" tIns="0" rIns="0" bIns="0" rtlCol="0" anchor="ctr"/>
          <a:lstStyle/>
          <a:p>
            <a:pPr algn="ctr" indent="0" marL="0">
              <a:buNone/>
            </a:pPr>
            <a:r>
              <a:rPr lang="en-US" sz="1250" dirty="0">
                <a:solidFill>
                  <a:srgbClr val="EDEFF1"/>
                </a:solidFill>
                <a:latin typeface="Courier New" pitchFamily="34" charset="0"/>
                <a:ea typeface="Courier New" pitchFamily="34" charset="-122"/>
                <a:cs typeface="Courier New" pitchFamily="34" charset="-120"/>
              </a:rPr>
              <a:t>MEASUREMENT</a:t>
            </a:r>
            <a:endParaRPr lang="en-US" sz="1250" dirty="0"/>
          </a:p>
        </p:txBody>
      </p:sp>
      <p:sp>
        <p:nvSpPr>
          <p:cNvPr id="10" name="Text 8"/>
          <p:cNvSpPr/>
          <p:nvPr/>
        </p:nvSpPr>
        <p:spPr>
          <a:xfrm>
            <a:off x="8107528" y="1188720"/>
            <a:ext cx="365760" cy="548640"/>
          </a:xfrm>
          <a:prstGeom prst="rect">
            <a:avLst/>
          </a:prstGeom>
          <a:noFill/>
          <a:ln/>
        </p:spPr>
        <p:txBody>
          <a:bodyPr wrap="square" lIns="0" tIns="0" rIns="0" bIns="0" rtlCol="0" anchor="ctr"/>
          <a:lstStyle/>
          <a:p>
            <a:pPr algn="ctr" indent="0" marL="0">
              <a:buNone/>
            </a:pPr>
            <a:r>
              <a:rPr lang="en-US" sz="2000" dirty="0">
                <a:solidFill>
                  <a:srgbClr val="5A646A"/>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8564728" y="1188720"/>
            <a:ext cx="2331720" cy="548640"/>
          </a:xfrm>
          <a:prstGeom prst="rect">
            <a:avLst/>
          </a:prstGeom>
          <a:solidFill>
            <a:srgbClr val="12171A"/>
          </a:solidFill>
          <a:ln w="12700">
            <a:solidFill>
              <a:srgbClr val="2A3236"/>
            </a:solidFill>
            <a:prstDash val="solid"/>
          </a:ln>
        </p:spPr>
      </p:sp>
      <p:sp>
        <p:nvSpPr>
          <p:cNvPr id="12" name="Text 10"/>
          <p:cNvSpPr/>
          <p:nvPr/>
        </p:nvSpPr>
        <p:spPr>
          <a:xfrm>
            <a:off x="8564728" y="1188720"/>
            <a:ext cx="2331720" cy="548640"/>
          </a:xfrm>
          <a:prstGeom prst="rect">
            <a:avLst/>
          </a:prstGeom>
          <a:noFill/>
          <a:ln/>
        </p:spPr>
        <p:txBody>
          <a:bodyPr wrap="square" lIns="0" tIns="0" rIns="0" bIns="0" rtlCol="0" anchor="ctr"/>
          <a:lstStyle/>
          <a:p>
            <a:pPr algn="ctr" indent="0" marL="0">
              <a:buNone/>
            </a:pPr>
            <a:r>
              <a:rPr lang="en-US" sz="1250" dirty="0">
                <a:solidFill>
                  <a:srgbClr val="EDEFF1"/>
                </a:solidFill>
                <a:latin typeface="Courier New" pitchFamily="34" charset="0"/>
                <a:ea typeface="Courier New" pitchFamily="34" charset="-122"/>
                <a:cs typeface="Courier New" pitchFamily="34" charset="-120"/>
              </a:rPr>
              <a:t>LIMITATIONS</a:t>
            </a:r>
            <a:endParaRPr lang="en-US" sz="1250" dirty="0"/>
          </a:p>
        </p:txBody>
      </p:sp>
      <p:sp>
        <p:nvSpPr>
          <p:cNvPr id="13" name="Shape 11"/>
          <p:cNvSpPr/>
          <p:nvPr/>
        </p:nvSpPr>
        <p:spPr>
          <a:xfrm>
            <a:off x="6095848" y="1737360"/>
            <a:ext cx="0" cy="411480"/>
          </a:xfrm>
          <a:prstGeom prst="line">
            <a:avLst/>
          </a:prstGeom>
          <a:noFill/>
          <a:ln w="12700">
            <a:solidFill>
              <a:srgbClr val="838E96"/>
            </a:solidFill>
            <a:prstDash val="solid"/>
            <a:tailEnd type="triangle"/>
          </a:ln>
        </p:spPr>
      </p:sp>
      <p:sp>
        <p:nvSpPr>
          <p:cNvPr id="14" name="Text 12"/>
          <p:cNvSpPr/>
          <p:nvPr/>
        </p:nvSpPr>
        <p:spPr>
          <a:xfrm>
            <a:off x="0" y="2240280"/>
            <a:ext cx="12191695" cy="502920"/>
          </a:xfrm>
          <a:prstGeom prst="rect">
            <a:avLst/>
          </a:prstGeom>
          <a:noFill/>
          <a:ln/>
        </p:spPr>
        <p:txBody>
          <a:bodyPr wrap="square" lIns="0" tIns="0" rIns="0" bIns="0" rtlCol="0" anchor="ctr"/>
          <a:lstStyle/>
          <a:p>
            <a:pPr algn="ctr" indent="0" marL="0">
              <a:buNone/>
            </a:pPr>
            <a:r>
              <a:rPr lang="en-US" sz="2600" b="1" dirty="0">
                <a:solidFill>
                  <a:srgbClr val="3FE0E8"/>
                </a:solidFill>
                <a:latin typeface="Calibri" pitchFamily="34" charset="0"/>
                <a:ea typeface="Calibri" pitchFamily="34" charset="-122"/>
                <a:cs typeface="Calibri" pitchFamily="34" charset="-120"/>
              </a:rPr>
              <a:t>ENGINEERING EVIDENCE</a:t>
            </a:r>
            <a:endParaRPr lang="en-US" sz="2600" dirty="0"/>
          </a:p>
        </p:txBody>
      </p:sp>
      <p:sp>
        <p:nvSpPr>
          <p:cNvPr id="15" name="Shape 13"/>
          <p:cNvSpPr/>
          <p:nvPr/>
        </p:nvSpPr>
        <p:spPr>
          <a:xfrm>
            <a:off x="4084168" y="2971800"/>
            <a:ext cx="4023360" cy="0"/>
          </a:xfrm>
          <a:prstGeom prst="line">
            <a:avLst/>
          </a:prstGeom>
          <a:noFill/>
          <a:ln w="9525">
            <a:solidFill>
              <a:srgbClr val="1D2427"/>
            </a:solidFill>
            <a:prstDash val="solid"/>
          </a:ln>
        </p:spPr>
      </p:sp>
      <p:sp>
        <p:nvSpPr>
          <p:cNvPr id="16" name="Text 14"/>
          <p:cNvSpPr/>
          <p:nvPr/>
        </p:nvSpPr>
        <p:spPr>
          <a:xfrm>
            <a:off x="0" y="3246120"/>
            <a:ext cx="12191695" cy="777240"/>
          </a:xfrm>
          <a:prstGeom prst="rect">
            <a:avLst/>
          </a:prstGeom>
          <a:noFill/>
          <a:ln/>
        </p:spPr>
        <p:txBody>
          <a:bodyPr wrap="square" lIns="0" tIns="0" rIns="0" bIns="0" rtlCol="0" anchor="ctr"/>
          <a:lstStyle/>
          <a:p>
            <a:pPr algn="ctr" indent="0" marL="0">
              <a:buNone/>
            </a:pPr>
            <a:r>
              <a:rPr lang="en-US" sz="4400" b="1" dirty="0">
                <a:solidFill>
                  <a:srgbClr val="EDEFF1"/>
                </a:solidFill>
                <a:latin typeface="Calibri" pitchFamily="34" charset="0"/>
                <a:ea typeface="Calibri" pitchFamily="34" charset="-122"/>
                <a:cs typeface="Calibri" pitchFamily="34" charset="-120"/>
              </a:rPr>
              <a:t>RAGNAROK</a:t>
            </a:r>
            <a:pPr algn="ctr" indent="0" marL="0">
              <a:buNone/>
            </a:pPr>
            <a:r>
              <a:rPr lang="en-US" sz="4400" b="1" dirty="0">
                <a:solidFill>
                  <a:srgbClr val="3FE0E8"/>
                </a:solidFill>
                <a:latin typeface="Calibri" pitchFamily="34" charset="0"/>
                <a:ea typeface="Calibri" pitchFamily="34" charset="-122"/>
                <a:cs typeface="Calibri" pitchFamily="34" charset="-120"/>
              </a:rPr>
              <a:t>.CPP</a:t>
            </a:r>
            <a:endParaRPr lang="en-US" sz="4400" dirty="0"/>
          </a:p>
        </p:txBody>
      </p:sp>
      <p:sp>
        <p:nvSpPr>
          <p:cNvPr id="17" name="Text 15"/>
          <p:cNvSpPr/>
          <p:nvPr/>
        </p:nvSpPr>
        <p:spPr>
          <a:xfrm>
            <a:off x="0" y="4023360"/>
            <a:ext cx="12191695" cy="365760"/>
          </a:xfrm>
          <a:prstGeom prst="rect">
            <a:avLst/>
          </a:prstGeom>
          <a:noFill/>
          <a:ln/>
        </p:spPr>
        <p:txBody>
          <a:bodyPr wrap="square" lIns="0" tIns="0" rIns="0" bIns="0" rtlCol="0" anchor="ctr"/>
          <a:lstStyle/>
          <a:p>
            <a:pPr algn="ctr" indent="0" marL="0">
              <a:buNone/>
            </a:pPr>
            <a:r>
              <a:rPr lang="en-US" sz="1400" dirty="0">
                <a:solidFill>
                  <a:srgbClr val="838E96"/>
                </a:solidFill>
                <a:latin typeface="Courier New" pitchFamily="34" charset="0"/>
                <a:ea typeface="Courier New" pitchFamily="34" charset="-122"/>
                <a:cs typeface="Courier New" pitchFamily="34" charset="-120"/>
              </a:rPr>
              <a:t>C++17 · Gemini · MongoDB Atlas</a:t>
            </a:r>
            <a:endParaRPr lang="en-US" sz="1400" dirty="0"/>
          </a:p>
        </p:txBody>
      </p:sp>
      <p:sp>
        <p:nvSpPr>
          <p:cNvPr id="18" name="Text 16"/>
          <p:cNvSpPr/>
          <p:nvPr/>
        </p:nvSpPr>
        <p:spPr>
          <a:xfrm>
            <a:off x="0" y="4434840"/>
            <a:ext cx="12191695" cy="320040"/>
          </a:xfrm>
          <a:prstGeom prst="rect">
            <a:avLst/>
          </a:prstGeom>
          <a:noFill/>
          <a:ln/>
        </p:spPr>
        <p:txBody>
          <a:bodyPr wrap="square" lIns="0" tIns="0" rIns="0" bIns="0" rtlCol="0" anchor="ctr"/>
          <a:lstStyle/>
          <a:p>
            <a:pPr algn="ctr" indent="0" marL="0">
              <a:buNone/>
            </a:pPr>
            <a:r>
              <a:rPr lang="en-US" sz="1300" dirty="0">
                <a:solidFill>
                  <a:srgbClr val="3FE0E8"/>
                </a:solidFill>
                <a:latin typeface="Courier New" pitchFamily="34" charset="0"/>
                <a:ea typeface="Courier New" pitchFamily="34" charset="-122"/>
                <a:cs typeface="Courier New" pitchFamily="34" charset="-120"/>
              </a:rPr>
              <a:t>github.com/the-aadarsh/RAGnarok</a:t>
            </a:r>
            <a:endParaRPr lang="en-US" sz="1300" dirty="0"/>
          </a:p>
        </p:txBody>
      </p:sp>
      <p:sp>
        <p:nvSpPr>
          <p:cNvPr id="19" name="Shape 17"/>
          <p:cNvSpPr/>
          <p:nvPr/>
        </p:nvSpPr>
        <p:spPr>
          <a:xfrm>
            <a:off x="4632808" y="5623560"/>
            <a:ext cx="2926080" cy="502920"/>
          </a:xfrm>
          <a:prstGeom prst="rect">
            <a:avLst/>
          </a:prstGeom>
          <a:solidFill>
            <a:srgbClr val="0D1214"/>
          </a:solidFill>
          <a:ln w="12700">
            <a:solidFill>
              <a:srgbClr val="2A3236"/>
            </a:solidFill>
            <a:prstDash val="solid"/>
          </a:ln>
        </p:spPr>
      </p:sp>
      <p:sp>
        <p:nvSpPr>
          <p:cNvPr id="20" name="Text 18"/>
          <p:cNvSpPr/>
          <p:nvPr/>
        </p:nvSpPr>
        <p:spPr>
          <a:xfrm>
            <a:off x="4632808" y="5623560"/>
            <a:ext cx="2926080" cy="502920"/>
          </a:xfrm>
          <a:prstGeom prst="rect">
            <a:avLst/>
          </a:prstGeom>
          <a:noFill/>
          <a:ln/>
        </p:spPr>
        <p:txBody>
          <a:bodyPr wrap="square" lIns="0" tIns="0" rIns="0" bIns="0" rtlCol="0" anchor="ctr"/>
          <a:lstStyle/>
          <a:p>
            <a:pPr algn="ctr" indent="0" marL="0">
              <a:buNone/>
            </a:pPr>
            <a:r>
              <a:rPr lang="en-US" sz="1400" b="1" dirty="0">
                <a:solidFill>
                  <a:srgbClr val="3FE0E8"/>
                </a:solidFill>
                <a:latin typeface="Courier New" pitchFamily="34" charset="0"/>
                <a:ea typeface="Courier New" pitchFamily="34" charset="-122"/>
                <a:cs typeface="Courier New" pitchFamily="34" charset="-120"/>
              </a:rPr>
              <a:t>$ </a:t>
            </a:r>
            <a:pPr algn="ctr" indent="0" marL="0">
              <a:buNone/>
            </a:pPr>
            <a:r>
              <a:rPr lang="en-US" sz="1400" b="1" dirty="0">
                <a:solidFill>
                  <a:srgbClr val="EDEFF1"/>
                </a:solidFill>
                <a:latin typeface="Courier New" pitchFamily="34" charset="0"/>
                <a:ea typeface="Courier New" pitchFamily="34" charset="-122"/>
                <a:cs typeface="Courier New" pitchFamily="34" charset="-120"/>
              </a:rPr>
              <a:t>QUESTIONS?</a:t>
            </a:r>
            <a:pPr algn="ctr" indent="0" marL="0">
              <a:buNone/>
            </a:pPr>
            <a:r>
              <a:rPr lang="en-US" sz="1400" b="1" dirty="0">
                <a:solidFill>
                  <a:srgbClr val="3FE0E8"/>
                </a:solidFill>
                <a:latin typeface="Courier New" pitchFamily="34" charset="0"/>
                <a:ea typeface="Courier New" pitchFamily="34" charset="-122"/>
                <a:cs typeface="Courier New" pitchFamily="34" charset="-120"/>
              </a:rPr>
              <a:t> _</a:t>
            </a:r>
            <a:endParaRPr lang="en-US" sz="1400" dirty="0"/>
          </a:p>
        </p:txBody>
      </p:sp>
      <p:sp>
        <p:nvSpPr>
          <p:cNvPr id="21" name="Text 19"/>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A646A"/>
                </a:solidFill>
                <a:latin typeface="Courier New" pitchFamily="34" charset="0"/>
                <a:ea typeface="Courier New" pitchFamily="34" charset="-122"/>
                <a:cs typeface="Courier New"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2026-08-16T17:21:52Z</dcterms:created>
  <dcterms:modified xsi:type="dcterms:W3CDTF">2026-08-16T17:21:52Z</dcterms:modified>
</cp:coreProperties>
</file>